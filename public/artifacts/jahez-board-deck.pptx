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UNAR_MASTER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32688"/>
          </a:xfrm>
          <a:prstGeom prst="rect">
            <a:avLst/>
          </a:prstGeom>
          <a:solidFill>
            <a:srgbClr val="2A26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92000" cy="32004"/>
          </a:xfrm>
          <a:prstGeom prst="rect">
            <a:avLst/>
          </a:prstGeom>
          <a:solidFill>
            <a:srgbClr val="B08D2A"/>
          </a:solidFill>
          <a:ln/>
        </p:spPr>
      </p:sp>
      <p:sp>
        <p:nvSpPr>
          <p:cNvPr id="4" name="Text 2"/>
          <p:cNvSpPr/>
          <p:nvPr/>
        </p:nvSpPr>
        <p:spPr>
          <a:xfrm>
            <a:off x="9171432" y="1371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LUNAR INVESTMENTS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73952"/>
            <a:ext cx="11274552" cy="0"/>
          </a:xfrm>
          <a:prstGeom prst="line">
            <a:avLst/>
          </a:prstGeom>
          <a:noFill/>
          <a:ln w="9525">
            <a:solidFill>
              <a:srgbClr val="D8D2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6510528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 Faheem for Lunar Investments, Advisory only. Not investment advice.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A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874520"/>
            <a:ext cx="121889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spc="200" kern="0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LUNAR INVESTMENTS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631436" y="2761488"/>
            <a:ext cx="2926080" cy="27432"/>
          </a:xfrm>
          <a:prstGeom prst="rect">
            <a:avLst/>
          </a:prstGeom>
          <a:solidFill>
            <a:srgbClr val="B08D2A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2926080"/>
            <a:ext cx="121889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Equity Research · Investment Committee Briefing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0" y="342900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Jahez International Company (Tadawul: 6017)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0" y="5074920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PRIVILEGED &amp; CONFIDENTIAL · FOR INVESTMENT COMMITTEE DECISION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0" y="5440680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D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 Faheem for Lunar Investments · 12 July 2026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Executive Summary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Modeled outputs and key observations; full source trail in the IC memo and valuation workbook</a:t>
            </a:r>
            <a:endParaRPr lang="en-US" sz="11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48463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5603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Company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Jahez International · Tadawul 6017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Sector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Quick-commerce &amp; food delivery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 price (close)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SAR 12.79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DCF base-case value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SAR 14.36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Implied upside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Weighted return (4y)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Benchmark (gross IRR)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Quantified risk score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 / 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Compliance screen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806440" y="1371600"/>
            <a:ext cx="5925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observations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806440" y="1783080"/>
            <a:ext cx="5925312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FY2025A GMV of SAR 7,245.2m (+10.8% YoY) on 111.6m orders; net revenue SAR 2,323.6m (+4.7% YoY) at a 15.4% take rate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income compressed 61.2% YoY to SAR 73.0m on SAR 55.4m of Q4-2025 one-off items; Q1-2026A printed a SAR 9.2m net loss with adjusted EBITDA positive at SAR 43.6m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Snoonu consolidated from October 2025: SAR 626.8m of Group GMV and SAR 53.7m of adjusted EBITDA; the Logistics segment reached SAR 428.8m of net revenue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DCF base case of SAR 14.36 vs the SAR 12.79 close (+12.3%); scenario-weighted return 16.8% vs the 15.0% Benchmark; the bear case in isolation returns 7.0%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screen PASS; SAR 16.6m net cash; composite quantified risk score 5.5 / 10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Faheem Valuation Model; FY2025 Earnings Results; Q1 2026 Financial Statements. Advisory only, the Investment Committee decides.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Company and Market Overview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dynamics, qualitative positioning only, no invented market-share figures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5454396" cy="1965960"/>
          </a:xfrm>
          <a:prstGeom prst="roundRect">
            <a:avLst>
              <a:gd name="adj" fmla="val 2791"/>
            </a:avLst>
          </a:prstGeom>
          <a:solidFill>
            <a:srgbClr val="EFE6CE"/>
          </a:solidFill>
          <a:ln w="19050">
            <a:solidFill>
              <a:srgbClr val="B08D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600200"/>
            <a:ext cx="49423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Jahez + Snoonu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13232" y="2130552"/>
            <a:ext cx="494233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Incumbent KSA platform diversifying into logistics, FY25 GMV SAR 7,245.2m, 111.6m orders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277356" y="1417320"/>
            <a:ext cx="5454396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D8D2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3388" y="1600200"/>
            <a:ext cx="49423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HungerStation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33388" y="2130552"/>
            <a:ext cx="494233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Established KSA delivery incumbent competitor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3703320"/>
            <a:ext cx="5454396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D8D2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3886200"/>
            <a:ext cx="49423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Keeta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13232" y="4416552"/>
            <a:ext cx="494233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Well-funded new entrant, discounting-led KSA expansion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77356" y="3703320"/>
            <a:ext cx="5454396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D8D2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3388" y="3886200"/>
            <a:ext cx="49423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Rabbit / Ninja / Dingdong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33388" y="4416552"/>
            <a:ext cx="494233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Further well-capitalised entrants adding fulfilment-density pressure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Industry &amp; News Pack · Saudi Quick-Commerce, p.2, p.4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FY2025A Unit Economics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Orders x AOV = GMV -&gt; take rate -&gt; net revenue -&gt; adjusted EBITDA (FY2025A, sourced figures)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457200" y="2743200"/>
            <a:ext cx="2441448" cy="1371600"/>
          </a:xfrm>
          <a:prstGeom prst="roundRect">
            <a:avLst>
              <a:gd name="adj" fmla="val 3333"/>
            </a:avLst>
          </a:prstGeom>
          <a:solidFill>
            <a:srgbClr val="2A2620"/>
          </a:solidFill>
          <a:ln w="12700">
            <a:solidFill>
              <a:srgbClr val="B08D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907792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3291840"/>
            <a:ext cx="24414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111.6m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898648" y="3127248"/>
            <a:ext cx="502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D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441448" y="2359152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 AOV SAR 64.90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401568" y="2743200"/>
            <a:ext cx="2441448" cy="1371600"/>
          </a:xfrm>
          <a:prstGeom prst="roundRect">
            <a:avLst>
              <a:gd name="adj" fmla="val 3333"/>
            </a:avLst>
          </a:prstGeom>
          <a:solidFill>
            <a:srgbClr val="2A2620"/>
          </a:solidFill>
          <a:ln w="12700">
            <a:solidFill>
              <a:srgbClr val="B08D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01568" y="2907792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GMV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401568" y="3291840"/>
            <a:ext cx="24414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SAR 7,245.2m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843016" y="3127248"/>
            <a:ext cx="502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D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385816" y="2359152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rate 15.4%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345936" y="2743200"/>
            <a:ext cx="2441448" cy="1371600"/>
          </a:xfrm>
          <a:prstGeom prst="roundRect">
            <a:avLst>
              <a:gd name="adj" fmla="val 3333"/>
            </a:avLst>
          </a:prstGeom>
          <a:solidFill>
            <a:srgbClr val="2A2620"/>
          </a:solidFill>
          <a:ln w="12700">
            <a:solidFill>
              <a:srgbClr val="B08D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45936" y="2907792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revenue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45936" y="3291840"/>
            <a:ext cx="24414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SAR 2,323.6m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787384" y="3127248"/>
            <a:ext cx="502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D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330184" y="2359152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EBITDA margin 8.3%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9290304" y="2743200"/>
            <a:ext cx="2441448" cy="1371600"/>
          </a:xfrm>
          <a:prstGeom prst="roundRect">
            <a:avLst>
              <a:gd name="adj" fmla="val 3333"/>
            </a:avLst>
          </a:prstGeom>
          <a:solidFill>
            <a:srgbClr val="2A2620"/>
          </a:solidFill>
          <a:ln w="12700">
            <a:solidFill>
              <a:srgbClr val="B08D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90304" y="2907792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Adj. EBITDA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290304" y="3291840"/>
            <a:ext cx="24414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SAR 193.0m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Q4 2025 Earnings Results, p.4, p.8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Historical and Projected Financials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FY2023A-FY2025A actuals; FY2026E-FY2030E model forecast on documented assumptions</a:t>
            </a:r>
            <a:endParaRPr lang="en-US" sz="11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74552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1106424"/>
                <a:gridCol w="1106424"/>
                <a:gridCol w="1106424"/>
                <a:gridCol w="1106424"/>
                <a:gridCol w="1106424"/>
                <a:gridCol w="1106424"/>
                <a:gridCol w="1106424"/>
                <a:gridCol w="1106424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SAR m unless noted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FY23A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FY24A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FY25A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FY26E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FY27E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FY28E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FY29E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FY30E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Orders (m)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84.8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111.6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131.7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147.5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160.8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182.3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GMV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5,100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6,542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7,245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9,059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10,552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11,847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13,057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14,255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revenue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1,785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2,219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2,808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3,218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3,613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3,982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4,348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Take rate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Adj. EBITDA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Adj. EBITDA margin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FCFF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Actuals: Annual Report 2024, p.5, p.24; Q4 2025 Earnings Results, p.4. Forecast and actual-year FCFF: Faheem Valuation Model (workbook Assumptions tab). E = estimate.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Valuation Summary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Implied value per share: DCF base case vs EV/Revenue, EV/EBITDA and P/E triangulation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1554480" y="4572000"/>
            <a:ext cx="9235440" cy="0"/>
          </a:xfrm>
          <a:prstGeom prst="line">
            <a:avLst/>
          </a:prstGeom>
          <a:noFill/>
          <a:ln w="15875">
            <a:solidFill>
              <a:srgbClr val="514B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54480" y="4572000"/>
            <a:ext cx="0" cy="73152"/>
          </a:xfrm>
          <a:prstGeom prst="line">
            <a:avLst/>
          </a:prstGeom>
          <a:noFill/>
          <a:ln w="12700">
            <a:solidFill>
              <a:srgbClr val="514B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4663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 0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137698" y="4572000"/>
            <a:ext cx="0" cy="73152"/>
          </a:xfrm>
          <a:prstGeom prst="line">
            <a:avLst/>
          </a:prstGeom>
          <a:noFill/>
          <a:ln w="12700">
            <a:solidFill>
              <a:srgbClr val="514B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80498" y="4663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 12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88982" y="4572000"/>
            <a:ext cx="0" cy="73152"/>
          </a:xfrm>
          <a:prstGeom prst="line">
            <a:avLst/>
          </a:prstGeom>
          <a:noFill/>
          <a:ln w="12700">
            <a:solidFill>
              <a:srgbClr val="514B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31782" y="4663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 23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172200" y="4572000"/>
            <a:ext cx="0" cy="73152"/>
          </a:xfrm>
          <a:prstGeom prst="line">
            <a:avLst/>
          </a:prstGeom>
          <a:noFill/>
          <a:ln w="12700">
            <a:solidFill>
              <a:srgbClr val="514B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15000" y="4663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 35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7755418" y="4572000"/>
            <a:ext cx="0" cy="73152"/>
          </a:xfrm>
          <a:prstGeom prst="line">
            <a:avLst/>
          </a:prstGeom>
          <a:noFill/>
          <a:ln w="12700">
            <a:solidFill>
              <a:srgbClr val="514B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298218" y="4663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 47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206702" y="4572000"/>
            <a:ext cx="0" cy="73152"/>
          </a:xfrm>
          <a:prstGeom prst="line">
            <a:avLst/>
          </a:prstGeom>
          <a:noFill/>
          <a:ln w="12700">
            <a:solidFill>
              <a:srgbClr val="514B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49502" y="4663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 58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789920" y="4572000"/>
            <a:ext cx="0" cy="73152"/>
          </a:xfrm>
          <a:prstGeom prst="line">
            <a:avLst/>
          </a:prstGeom>
          <a:noFill/>
          <a:ln w="12700">
            <a:solidFill>
              <a:srgbClr val="514B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32720" y="4663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 70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320992" y="2606040"/>
            <a:ext cx="7323082" cy="502920"/>
          </a:xfrm>
          <a:prstGeom prst="rect">
            <a:avLst/>
          </a:prstGeom>
          <a:solidFill>
            <a:srgbClr val="EDE8DC"/>
          </a:solidFill>
          <a:ln w="12700">
            <a:solidFill>
              <a:srgbClr val="B7AF9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406592" y="2286000"/>
            <a:ext cx="915188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Trading comps range (EV/Revenue, EV/EBITDA, P/E)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68174" y="2560320"/>
            <a:ext cx="0" cy="594360"/>
          </a:xfrm>
          <a:prstGeom prst="line">
            <a:avLst/>
          </a:prstGeom>
          <a:noFill/>
          <a:ln w="19050">
            <a:solidFill>
              <a:srgbClr val="2A262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3945214" y="3163824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SAR 24.36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67272" y="2148840"/>
            <a:ext cx="164592" cy="164592"/>
          </a:xfrm>
          <a:prstGeom prst="diamond">
            <a:avLst/>
          </a:prstGeom>
          <a:solidFill>
            <a:srgbClr val="3E6B49"/>
          </a:solidFill>
          <a:ln w="9525">
            <a:solidFill>
              <a:srgbClr val="2A262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443728" y="169164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E6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DCF base case, SAR 14.36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241927" y="2468880"/>
            <a:ext cx="0" cy="777240"/>
          </a:xfrm>
          <a:prstGeom prst="line">
            <a:avLst/>
          </a:prstGeom>
          <a:noFill/>
          <a:ln w="19050">
            <a:solidFill>
              <a:srgbClr val="9B3A2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418967" y="3456432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B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Current, SAR 12.79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Market Data &amp; Comparables Snapshot, p.3-4; Faheem DCF (WACC 13.3%)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Scenario Analysis vs the Benchmark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Bear / base / bull 4-year IRR at 25% / 50% / 25% probability weights; weighted return 16.8%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011680" y="5394960"/>
            <a:ext cx="8229600" cy="0"/>
          </a:xfrm>
          <a:prstGeom prst="line">
            <a:avLst/>
          </a:prstGeom>
          <a:noFill/>
          <a:ln w="15875">
            <a:solidFill>
              <a:srgbClr val="514B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903220" y="4668870"/>
            <a:ext cx="1554480" cy="726090"/>
          </a:xfrm>
          <a:prstGeom prst="rect">
            <a:avLst/>
          </a:prstGeom>
          <a:solidFill>
            <a:srgbClr val="9B3A2E"/>
          </a:solidFill>
          <a:ln w="6350">
            <a:solidFill>
              <a:srgbClr val="2A262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903220" y="434883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B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7.0%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903220" y="548640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Bear (25%)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349240" y="3626404"/>
            <a:ext cx="1554480" cy="1768556"/>
          </a:xfrm>
          <a:prstGeom prst="rect">
            <a:avLst/>
          </a:prstGeom>
          <a:solidFill>
            <a:srgbClr val="2A2620"/>
          </a:solidFill>
          <a:ln w="6350">
            <a:solidFill>
              <a:srgbClr val="2A26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49240" y="3306364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17.1%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349240" y="548640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(50%)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795260" y="2707016"/>
            <a:ext cx="1554480" cy="2687944"/>
          </a:xfrm>
          <a:prstGeom prst="rect">
            <a:avLst/>
          </a:prstGeom>
          <a:solidFill>
            <a:srgbClr val="3E6B49"/>
          </a:solidFill>
          <a:ln w="6350">
            <a:solidFill>
              <a:srgbClr val="2A262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95260" y="2386976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6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25.9%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795260" y="548640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Bull (25%)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011680" y="3840480"/>
            <a:ext cx="8229600" cy="0"/>
          </a:xfrm>
          <a:prstGeom prst="line">
            <a:avLst/>
          </a:prstGeom>
          <a:noFill/>
          <a:ln w="22225">
            <a:solidFill>
              <a:srgbClr val="B08D2A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0332720" y="356616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9A7B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Lunar Benchmark</a:t>
            </a:r>
            <a:endParaRPr lang="en-US" sz="950" dirty="0"/>
          </a:p>
          <a:p>
            <a:pPr algn="l" indent="0" marL="0">
              <a:buNone/>
            </a:pPr>
            <a:r>
              <a:rPr lang="en-US" sz="950" b="1" dirty="0">
                <a:solidFill>
                  <a:srgbClr val="9A7B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15.0%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011680" y="3657173"/>
            <a:ext cx="8229600" cy="0"/>
          </a:xfrm>
          <a:prstGeom prst="line">
            <a:avLst/>
          </a:prstGeom>
          <a:noFill/>
          <a:ln w="15875">
            <a:solidFill>
              <a:srgbClr val="514B40"/>
            </a:solidFill>
            <a:prstDash val="sysDot"/>
          </a:ln>
        </p:spPr>
      </p:sp>
      <p:sp>
        <p:nvSpPr>
          <p:cNvPr id="17" name="Text 15"/>
          <p:cNvSpPr/>
          <p:nvPr/>
        </p:nvSpPr>
        <p:spPr>
          <a:xfrm>
            <a:off x="274320" y="3382853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Probability-weighted</a:t>
            </a:r>
            <a:endParaRPr lang="en-US" sz="950" dirty="0"/>
          </a:p>
          <a:p>
            <a:pPr algn="r" indent="0" marL="0">
              <a:buNone/>
            </a:pPr>
            <a:r>
              <a:rPr lang="en-US" sz="950" b="1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16.8%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Faheem Valuation Model, Scenarios &amp; Risk tab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Quantified Risk Assessment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Probability x impact, 1-5 scale, composite score 5.5 / 10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17320" y="1691640"/>
            <a:ext cx="612648" cy="612648"/>
          </a:xfrm>
          <a:prstGeom prst="rect">
            <a:avLst/>
          </a:prstGeom>
          <a:solidFill>
            <a:srgbClr val="9A7B25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57400" y="1691640"/>
            <a:ext cx="612648" cy="612648"/>
          </a:xfrm>
          <a:prstGeom prst="rect">
            <a:avLst/>
          </a:prstGeom>
          <a:solidFill>
            <a:srgbClr val="9B3A2E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1691640"/>
            <a:ext cx="612648" cy="612648"/>
          </a:xfrm>
          <a:prstGeom prst="rect">
            <a:avLst/>
          </a:prstGeom>
          <a:solidFill>
            <a:srgbClr val="9B3A2E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37560" y="1691640"/>
            <a:ext cx="612648" cy="612648"/>
          </a:xfrm>
          <a:prstGeom prst="rect">
            <a:avLst/>
          </a:prstGeom>
          <a:solidFill>
            <a:srgbClr val="9B3A2E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33172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17320" y="2331720"/>
            <a:ext cx="612648" cy="612648"/>
          </a:xfrm>
          <a:prstGeom prst="rect">
            <a:avLst/>
          </a:prstGeom>
          <a:solidFill>
            <a:srgbClr val="9A7B25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57400" y="2331720"/>
            <a:ext cx="612648" cy="612648"/>
          </a:xfrm>
          <a:prstGeom prst="rect">
            <a:avLst/>
          </a:prstGeom>
          <a:solidFill>
            <a:srgbClr val="9A7B25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97480" y="2331720"/>
            <a:ext cx="612648" cy="612648"/>
          </a:xfrm>
          <a:prstGeom prst="rect">
            <a:avLst/>
          </a:prstGeom>
          <a:solidFill>
            <a:srgbClr val="9B3A2E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37560" y="2331720"/>
            <a:ext cx="612648" cy="612648"/>
          </a:xfrm>
          <a:prstGeom prst="rect">
            <a:avLst/>
          </a:prstGeom>
          <a:solidFill>
            <a:srgbClr val="9B3A2E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297180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17320" y="297180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57400" y="2971800"/>
            <a:ext cx="612648" cy="612648"/>
          </a:xfrm>
          <a:prstGeom prst="rect">
            <a:avLst/>
          </a:prstGeom>
          <a:solidFill>
            <a:srgbClr val="9A7B25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97480" y="2971800"/>
            <a:ext cx="612648" cy="612648"/>
          </a:xfrm>
          <a:prstGeom prst="rect">
            <a:avLst/>
          </a:prstGeom>
          <a:solidFill>
            <a:srgbClr val="9A7B25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37560" y="2971800"/>
            <a:ext cx="612648" cy="612648"/>
          </a:xfrm>
          <a:prstGeom prst="rect">
            <a:avLst/>
          </a:prstGeom>
          <a:solidFill>
            <a:srgbClr val="9B3A2E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361188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17320" y="361188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361188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97480" y="3611880"/>
            <a:ext cx="612648" cy="612648"/>
          </a:xfrm>
          <a:prstGeom prst="rect">
            <a:avLst/>
          </a:prstGeom>
          <a:solidFill>
            <a:srgbClr val="9A7B25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37560" y="3611880"/>
            <a:ext cx="612648" cy="612648"/>
          </a:xfrm>
          <a:prstGeom prst="rect">
            <a:avLst/>
          </a:prstGeom>
          <a:solidFill>
            <a:srgbClr val="9A7B25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7240" y="425196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417320" y="425196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57400" y="425196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7480" y="425196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37560" y="425196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4910328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417320" y="4910328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2057400" y="4910328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697480" y="4910328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337560" y="4910328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02920" y="4251960"/>
            <a:ext cx="237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02920" y="3611880"/>
            <a:ext cx="237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02920" y="2971800"/>
            <a:ext cx="237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02920" y="2331720"/>
            <a:ext cx="237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02920" y="1691640"/>
            <a:ext cx="237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77240" y="5129784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Probability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210312" y="1691640"/>
            <a:ext cx="256032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89504" y="2523744"/>
            <a:ext cx="256032" cy="256032"/>
          </a:xfrm>
          <a:prstGeom prst="ellipse">
            <a:avLst/>
          </a:prstGeom>
          <a:solidFill>
            <a:srgbClr val="2A2620"/>
          </a:solidFill>
          <a:ln w="12700">
            <a:solidFill>
              <a:srgbClr val="F5F1E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89504" y="252374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2889504" y="3163824"/>
            <a:ext cx="256032" cy="256032"/>
          </a:xfrm>
          <a:prstGeom prst="ellipse">
            <a:avLst/>
          </a:prstGeom>
          <a:solidFill>
            <a:srgbClr val="2A2620"/>
          </a:solidFill>
          <a:ln w="12700">
            <a:solidFill>
              <a:srgbClr val="F5F1E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889504" y="316382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249424" y="3163824"/>
            <a:ext cx="256032" cy="256032"/>
          </a:xfrm>
          <a:prstGeom prst="ellipse">
            <a:avLst/>
          </a:prstGeom>
          <a:solidFill>
            <a:srgbClr val="2A2620"/>
          </a:solidFill>
          <a:ln w="12700">
            <a:solidFill>
              <a:srgbClr val="F5F1E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249424" y="316382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249424" y="3163824"/>
            <a:ext cx="256032" cy="256032"/>
          </a:xfrm>
          <a:prstGeom prst="ellipse">
            <a:avLst/>
          </a:prstGeom>
          <a:solidFill>
            <a:srgbClr val="2A2620"/>
          </a:solidFill>
          <a:ln w="12700">
            <a:solidFill>
              <a:srgbClr val="F5F1E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249424" y="316382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1609344" y="3803904"/>
            <a:ext cx="256032" cy="256032"/>
          </a:xfrm>
          <a:prstGeom prst="ellipse">
            <a:avLst/>
          </a:prstGeom>
          <a:solidFill>
            <a:srgbClr val="2A2620"/>
          </a:solidFill>
          <a:ln w="12700">
            <a:solidFill>
              <a:srgbClr val="F5F1E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609344" y="380390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249424" y="2523744"/>
            <a:ext cx="256032" cy="256032"/>
          </a:xfrm>
          <a:prstGeom prst="ellipse">
            <a:avLst/>
          </a:prstGeom>
          <a:solidFill>
            <a:srgbClr val="2A2620"/>
          </a:solidFill>
          <a:ln w="12700">
            <a:solidFill>
              <a:srgbClr val="F5F1E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249424" y="252374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74920" y="169164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5120640"/>
                <a:gridCol w="10058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Price-war margin compression (Keeta/Meituan-funded discounting)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Well-capitalised new entrants (Rabbit, Ninja unicorn, Dingdong)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Earnings volatility / one-offs (SAR 55m Q4-25; Q1-26 net loss)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Snoonu integration / near-term margin dilution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Valuation-data ambiguity (203m vs 217m shares; 92.8x trailing P/E)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WACC / terminal-value sensitivity (value ∝ WACC−g spread)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4" name="Text 51"/>
          <p:cNvSpPr/>
          <p:nvPr/>
        </p:nvSpPr>
        <p:spPr>
          <a:xfrm>
            <a:off x="5074920" y="5486400"/>
            <a:ext cx="6583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Composite score (peak-weighted): 5.5 / 10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Industry &amp; News Pack, Market Data &amp; Comparables Snapshot, Q4 2025 Earnings Results, FY2025 Earnings Call, see register for exact pages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Benchmark and Mandate Check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Screened against the Lunar IC Charter's mandate and risk limits</a:t>
            </a:r>
            <a:endParaRPr lang="en-US" sz="11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7455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188720"/>
                <a:gridCol w="6245352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Detail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Sector mandate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E6B4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Quick-commerce &amp; logistics falls within the Technology &amp; Consumer mandate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p.3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IRR Benchmark (15%)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E6B4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Weighted return 16.8% vs the 15.0% Benchmark; bear case 7.0% in isolation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p.3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Single-name concentration (10% cap)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E6B4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PASS*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Sized within cap, final ticket sizing is an IC decision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p.4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Liquidity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E6B4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Tadawul-listed (6017) with active daily trading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p.4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Compliance screen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E6B4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Debt 6.01%, cash 19.03% of market cap (both &lt;33%)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p.5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507492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Concentration pass is directional, final ticket sizing is an Investment Committee decision, not asserted here.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Lunar IC Charter &amp; Investment Mandate, p.3-5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Investment Committee Decision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1554480" y="1600200"/>
            <a:ext cx="9079992" cy="960120"/>
          </a:xfrm>
          <a:prstGeom prst="rect">
            <a:avLst/>
          </a:prstGeom>
          <a:solidFill>
            <a:srgbClr val="2A2620"/>
          </a:solidFill>
          <a:ln w="19050">
            <a:solidFill>
              <a:srgbClr val="B08D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554480" y="1691640"/>
            <a:ext cx="90799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analysis is presented; the decision is the Committee's.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554480" y="2148840"/>
            <a:ext cx="90799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Scenario-weighted return 16.8% vs the 15.0% Benchmark · Risk score 5.5 / 10 · Compliance PASS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554480" y="2971800"/>
            <a:ext cx="90799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 triggers ahead of the decision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554480" y="3310128"/>
            <a:ext cx="9079992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rate (15.4% FY2025A): the primary lever on net revenue in a discounting market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Adjusted EBITDA margin (8.3% FY2025A vs 11.3% FY2024A): the recovery path is the largest swing factor in the valuation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further one-off impairment beyond the SAR 55.4m identified in Q4-2025A: a trigger to re-run the scenario weights, not one-time noise to dismiss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Snoonu's first full consolidated year: the key diversification proof point in FY2026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554480" y="5394960"/>
            <a:ext cx="90799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 only: the investment decision rests with the Investment Committee.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source trail: IC memo and Excel valuation workbook, every figure traces to a corpus document page.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Lunar Investments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Jahez International, Investment Committee Briefing</dc:title>
  <dc:subject>PptxGenJS Presentation</dc:subject>
  <dc:creator>Faheem</dc:creator>
  <cp:lastModifiedBy>Faheem</cp:lastModifiedBy>
  <cp:revision>1</cp:revision>
  <dcterms:created xsi:type="dcterms:W3CDTF">2026-07-17T08:11:18Z</dcterms:created>
  <dcterms:modified xsi:type="dcterms:W3CDTF">2026-07-17T08:11:18Z</dcterms:modified>
</cp:coreProperties>
</file>