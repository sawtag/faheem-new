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UNAR_MASTER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32688"/>
          </a:xfrm>
          <a:prstGeom prst="rect">
            <a:avLst/>
          </a:prstGeom>
          <a:solidFill>
            <a:srgbClr val="2A26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92000" cy="32004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4" name="Text 2"/>
          <p:cNvSpPr/>
          <p:nvPr/>
        </p:nvSpPr>
        <p:spPr>
          <a:xfrm>
            <a:off x="9171432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INVESTMENTS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6473952"/>
            <a:ext cx="11274552" cy="0"/>
          </a:xfrm>
          <a:prstGeom prst="line">
            <a:avLst/>
          </a:prstGeom>
          <a:noFill/>
          <a:ln w="9525">
            <a:solidFill>
              <a:srgbClr val="D8D2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6510528"/>
            <a:ext cx="9601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 — Advisory only. Not investment advice.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Investment Thesis — Jahez International (Tadawul: 6017)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Faheem for Lunar Investments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74552" cy="530352"/>
          </a:xfrm>
          <a:prstGeom prst="rect">
            <a:avLst/>
          </a:prstGeom>
          <a:solidFill>
            <a:srgbClr val="EFE6CE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188720"/>
            <a:ext cx="1100023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 ·  +12.3% upside vs SAR 12.79 close  ·  Base IRR 17.1%  ·  Weighted return 16.8% vs 15.0% hurdle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7" name="Shape 5"/>
          <p:cNvSpPr/>
          <p:nvPr/>
        </p:nvSpPr>
        <p:spPr>
          <a:xfrm>
            <a:off x="51206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Diversification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1323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Snoonu logistics consolidation (SAR 626.8m of FY25 GMV) de-risks the single-platform delivery model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1292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6778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895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 recovery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895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FY25 EBITDA margin of 8.3% is one-off-depressed, not structurally broken — Q1-26 adj. EBITDA of SAR 43.6m stayed positive through a net-loss quarter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68640" y="2011680"/>
            <a:ext cx="54864" cy="3657600"/>
          </a:xfrm>
          <a:prstGeom prst="rect">
            <a:avLst/>
          </a:prstGeom>
          <a:solidFill>
            <a:srgbClr val="B08D2A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3504" y="2011680"/>
            <a:ext cx="3508248" cy="3657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24672" y="2212848"/>
            <a:ext cx="305104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24672" y="3108960"/>
            <a:ext cx="3051048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Shariah PASS, SAR 16.6m net cash, Tadawul-listed liquidity — clears Lunar's 15.0% hurdle at a 16.8% weighted return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 — see IC memo and workbook for the full source trail. Advisory only — the Investment Committee decides.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Quick-Commerce Market Map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dynamics — qualitative positioning only, no invented market-share figures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EFE6CE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Jahez + Snoonu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 KSA platform diversifying into logistics — FY25 GMV SAR 7,245.2m, 111.6m orders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77356" y="1417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3388" y="1600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HungerStation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33388" y="2130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Established KSA delivery incumbent competitor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3232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Well-funded new entrant, discounting-led KSA expansion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77356" y="3703320"/>
            <a:ext cx="5454396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3388" y="3886200"/>
            <a:ext cx="49423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Rabbit / Ninja / Dingdong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3388" y="4416552"/>
            <a:ext cx="49423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well-capitalised entrants adding fulfilment-density pressure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 — Saudi Quick-Commerce, p.2, p.4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FY2025 Unit-Economics Bridge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 x AOV = GMV -&gt; take rate -&gt; net revenue -&gt; adjusted EBITDA (FY2025A, real figures)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111.6m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898648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441448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AOV SAR 64.90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01568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01568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7,245.2m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843016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385816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rate 15.4%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45936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45936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revenue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2,323.6m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787384" y="3127248"/>
            <a:ext cx="502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08D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330184" y="2359152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 8.3%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290304" y="2743200"/>
            <a:ext cx="2441448" cy="1371600"/>
          </a:xfrm>
          <a:prstGeom prst="roundRect">
            <a:avLst>
              <a:gd name="adj" fmla="val 3333"/>
            </a:avLst>
          </a:prstGeom>
          <a:solidFill>
            <a:srgbClr val="2A2620"/>
          </a:solidFill>
          <a:ln w="12700">
            <a:solidFill>
              <a:srgbClr val="B08D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90304" y="2907792"/>
            <a:ext cx="2441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Adj. EBITDA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90304" y="3291840"/>
            <a:ext cx="2441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 193.0m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Q4 2025 Earnings Results, p.4, p.8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Valuation — DCF vs Trading Comps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Football field: implied value per share, DCF vs EV/Revenue, EV/EBITDA, P/E triangulation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554480" y="4572000"/>
            <a:ext cx="923544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5448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13769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049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12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8898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3178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23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17220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1500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35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755418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8218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47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206702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49502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58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789920" y="4572000"/>
            <a:ext cx="0" cy="73152"/>
          </a:xfrm>
          <a:prstGeom prst="line">
            <a:avLst/>
          </a:prstGeom>
          <a:noFill/>
          <a:ln w="12700">
            <a:solidFill>
              <a:srgbClr val="514B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332720" y="4663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 70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20992" y="2606040"/>
            <a:ext cx="7323082" cy="502920"/>
          </a:xfrm>
          <a:prstGeom prst="rect">
            <a:avLst/>
          </a:prstGeom>
          <a:solidFill>
            <a:srgbClr val="EDE8DC"/>
          </a:solidFill>
          <a:ln w="12700">
            <a:solidFill>
              <a:srgbClr val="B7AF9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406592" y="2286000"/>
            <a:ext cx="915188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Trading comps range (EV/Revenue, EV/EBITDA, P/E)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68174" y="2560320"/>
            <a:ext cx="0" cy="594360"/>
          </a:xfrm>
          <a:prstGeom prst="line">
            <a:avLst/>
          </a:prstGeom>
          <a:noFill/>
          <a:ln w="19050">
            <a:solidFill>
              <a:srgbClr val="2A262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3945214" y="3163824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SAR 24.36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67272" y="2148840"/>
            <a:ext cx="164592" cy="164592"/>
          </a:xfrm>
          <a:prstGeom prst="diamond">
            <a:avLst/>
          </a:prstGeom>
          <a:solidFill>
            <a:srgbClr val="3E6B49"/>
          </a:solidFill>
          <a:ln w="9525">
            <a:solidFill>
              <a:srgbClr val="2A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43728" y="169164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 target — SAR 14.36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1927" y="2468880"/>
            <a:ext cx="0" cy="777240"/>
          </a:xfrm>
          <a:prstGeom prst="line">
            <a:avLst/>
          </a:prstGeom>
          <a:noFill/>
          <a:ln w="19050">
            <a:solidFill>
              <a:srgbClr val="9B3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18967" y="34564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— SAR 12.79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Market Data &amp; Comparables Snapshot, p.3-4; Faheem DCF (WACC 13.3%)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 IRRs vs the 15% Hurdle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/ base / bull 4-year IRR, probability-weighted 25% / 50% / 25%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2011680" y="5394960"/>
            <a:ext cx="8229600" cy="0"/>
          </a:xfrm>
          <a:prstGeom prst="line">
            <a:avLst/>
          </a:prstGeom>
          <a:noFill/>
          <a:ln w="15875">
            <a:solidFill>
              <a:srgbClr val="514B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03220" y="4668870"/>
            <a:ext cx="1554480" cy="726090"/>
          </a:xfrm>
          <a:prstGeom prst="rect">
            <a:avLst/>
          </a:prstGeom>
          <a:solidFill>
            <a:srgbClr val="9B3A2E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03220" y="434883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B3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90322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Bear (25%)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349240" y="3626404"/>
            <a:ext cx="1554480" cy="1768556"/>
          </a:xfrm>
          <a:prstGeom prst="rect">
            <a:avLst/>
          </a:prstGeom>
          <a:solidFill>
            <a:srgbClr val="2A2620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3306364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17.1%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34924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(50%)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95260" y="2707016"/>
            <a:ext cx="1554480" cy="2687944"/>
          </a:xfrm>
          <a:prstGeom prst="rect">
            <a:avLst/>
          </a:prstGeom>
          <a:solidFill>
            <a:srgbClr val="3E6B49"/>
          </a:solidFill>
          <a:ln w="6350">
            <a:solidFill>
              <a:srgbClr val="2A262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95260" y="2386976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6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25.9%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795260" y="54864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Bull (25%)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011680" y="3840480"/>
            <a:ext cx="8229600" cy="0"/>
          </a:xfrm>
          <a:prstGeom prst="line">
            <a:avLst/>
          </a:prstGeom>
          <a:noFill/>
          <a:ln w="22225">
            <a:solidFill>
              <a:srgbClr val="B08D2A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772400" y="3529584"/>
            <a:ext cx="2468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A7B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Lunar hurdle — 15.0%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Faheem Valuation Model — Scenarios &amp; Risk tab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Quantified Risk Assessment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x impact, 1-5 scale — composite score 5.5 / 10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69164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5740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69164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33172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233172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9748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37560" y="233172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17320" y="297180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97180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37560" y="2971800"/>
            <a:ext cx="612648" cy="612648"/>
          </a:xfrm>
          <a:prstGeom prst="rect">
            <a:avLst/>
          </a:prstGeom>
          <a:solidFill>
            <a:srgbClr val="9B3A2E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1732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361188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748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560" y="3611880"/>
            <a:ext cx="612648" cy="612648"/>
          </a:xfrm>
          <a:prstGeom prst="rect">
            <a:avLst/>
          </a:prstGeom>
          <a:solidFill>
            <a:srgbClr val="9A7B25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748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37560" y="4251960"/>
            <a:ext cx="612648" cy="612648"/>
          </a:xfrm>
          <a:prstGeom prst="rect">
            <a:avLst/>
          </a:prstGeom>
          <a:solidFill>
            <a:srgbClr val="3E6B49">
              <a:alpha val="22000"/>
            </a:srgbClr>
          </a:solidFill>
          <a:ln w="6350">
            <a:solidFill>
              <a:srgbClr val="D8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1732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740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9748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337560" y="49103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2920" y="425196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61188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02920" y="297180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" y="233172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1691640"/>
            <a:ext cx="23774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12978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10312" y="1691640"/>
            <a:ext cx="256032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8950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8950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88950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88950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49424" y="316382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49424" y="31638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609344" y="380390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609344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2A2620"/>
          </a:solidFill>
          <a:ln w="12700">
            <a:solidFill>
              <a:srgbClr val="F5F1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F1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169164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51206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Price-war margin compression (Keeta/Meituan-funded discounting)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Well-capitalised new entrants (Rabbit, Ninja unicorn, Dingdong)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Earnings volatility / one-offs (SAR 55m Q4-25; Q1-26 net loss)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Snoonu integration / near-term margin dilution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Valuation-data ambiguity (203m vs 217m shares; 92.8x trailing P/E)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WACC / terminal-value sensitivity (value ∝ WACC−g spread)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4" name="Text 51"/>
          <p:cNvSpPr/>
          <p:nvPr/>
        </p:nvSpPr>
        <p:spPr>
          <a:xfrm>
            <a:off x="5074920" y="5486400"/>
            <a:ext cx="6583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14B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score (peak-weighted): 5.5 / 10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Industry &amp; News Pack, Market Data &amp; Comparables Snapshot, Q4 2025 Earnings Results, FY2025 Earnings Call — see register for exact pages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Mandate Fit — Lunar IC Charter</a:t>
            </a:r>
            <a:endParaRPr lang="en-US" sz="2300" dirty="0"/>
          </a:p>
        </p:txBody>
      </p:sp>
      <p:sp>
        <p:nvSpPr>
          <p:cNvPr id="3" name="Text 1"/>
          <p:cNvSpPr/>
          <p:nvPr/>
        </p:nvSpPr>
        <p:spPr>
          <a:xfrm>
            <a:off x="457200" y="6217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Screened against Lunar's investment mandate and risk limits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745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188720"/>
                <a:gridCol w="6245352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5F1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62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Sector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Quick-commerce &amp; logistics falls within the Technology &amp; Consumer mandate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 hurdle (15%)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return 16.8% vs 15.0% hurdle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Single-name concentration (10% cap)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PASS*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Sized within cap — final ticket sizing is an IC decision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Tadawul-listed (6017) with active daily trading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Shariah screen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E6B4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6.01%, cash 19.03% of market cap (both &lt;33%)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26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2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0749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Concentration pass is directional — final ticket sizing is an Investment Committee decision, not asserted here.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Lunar IC Charter &amp; Investment Mandate, p.3-5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8016"/>
            <a:ext cx="889711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1554480" y="1920240"/>
            <a:ext cx="9079992" cy="1051560"/>
          </a:xfrm>
          <a:prstGeom prst="rect">
            <a:avLst/>
          </a:prstGeom>
          <a:solidFill>
            <a:srgbClr val="2A2620"/>
          </a:solidFill>
          <a:ln w="19050">
            <a:solidFill>
              <a:srgbClr val="B08D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0" y="1965960"/>
            <a:ext cx="907999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F1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554480" y="2578608"/>
            <a:ext cx="90799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A9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 ·  Target price SAR 14.36 (+12.3% upside)  ·  Weighted return 16.8% vs 15.0% hurdle  ·  Risk score 5.5/10  ·  Shariah PASS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554480" y="3520440"/>
            <a:ext cx="9079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2A26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 only — the investment decision rests with the committee.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6108192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64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source trail: IC memo and Excel valuation workbook — every figure traces to a corpus document page.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48872" y="6510528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6B6455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Lunar Investments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Jahez International — Board Deck</dc:title>
  <dc:subject>PptxGenJS Presentation</dc:subject>
  <dc:creator>Faheem</dc:creator>
  <cp:lastModifiedBy>Faheem</cp:lastModifiedBy>
  <cp:revision>1</cp:revision>
  <dcterms:created xsi:type="dcterms:W3CDTF">2026-07-12T18:38:03Z</dcterms:created>
  <dcterms:modified xsi:type="dcterms:W3CDTF">2026-07-12T18:38:03Z</dcterms:modified>
</cp:coreProperties>
</file>