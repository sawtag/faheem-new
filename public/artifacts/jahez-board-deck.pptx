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74520"/>
            <a:ext cx="121889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spc="200" kern="0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LUNAR INVESTMENTS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631436" y="2761488"/>
            <a:ext cx="2926080" cy="27432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92608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Equity Research · Investment Committee Briefing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International Company (Tadawul: 6017)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0" y="5074920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PRIVILEGED &amp; CONFIDENTIAL · FOR INVESTMENT COMMITTEE DECISION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0" y="5440680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D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 · 12 July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outputs and key observations; full source trail in the IC memo and valuation workbook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Jahez International · Tadawul 6017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food delivery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price (close)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12.79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DCF base-case 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14.36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upside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(4y)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(gross IRR)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Quantified risk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 / 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AF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806440" y="1371600"/>
            <a:ext cx="5925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observations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806440" y="1783080"/>
            <a:ext cx="5925312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FY2025A GMV of SAR 7,245.2m (+10.8% YoY) on 111.6m orders; net revenue SAR 2,323.6m (+4.7% YoY) at a 15.4% take rate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compressed 61.2% YoY to SAR 73.0m on SAR 55.4m of Q4-2025 one-off items; Q1-2026A printed a SAR 9.2m net loss with adjusted EBITDA positive at SAR 43.6m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consolidated from October 2025: SAR 626.8m of Group GMV and SAR 53.7m of adjusted EBITDA; the Logistics segment reached SAR 428.8m of net revenue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base case of SAR 14.36 vs the SAR 12.79 close (+12.3%); scenario-weighted return 16.8% vs the 15.0% Benchmark; the bear case in isolation returns 7.0%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screen PASS; SAR 16.6m net cash; composite quantified risk score 5.5 / 10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Model; FY2025 Earnings Results; Q1 2026 Financial Statements.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Market Overview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FY2025A Unit Economics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sourced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and Projected Financials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FY2023A-FY2025A actuals; FY2026E-FY2030E model forecast on documented assumptions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 m unless noted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FY27E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FY28E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FY29E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FY30E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Orders (m)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rate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Adj. EBITDA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Adj. EBITDA margin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FCFF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Actuals: Annual Report 2024, p.5, p.24; Q4 2025 Earnings Results, p.4. Forecast and actual-year FCFF: Faheem Valuation Model (workbook Assumptions tab). E = estimate.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 Summary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Implied value per share: DCF base case vs EV/Revenue, EV/EBITDA and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base case,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Analysis vs the Benchmark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 at 25% / 50% / 25% probability weights; weighted return 16.8%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3327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Benchmark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0" y="3657173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ysDot"/>
          </a:ln>
        </p:spPr>
      </p:sp>
      <p:sp>
        <p:nvSpPr>
          <p:cNvPr id="17" name="Text 15"/>
          <p:cNvSpPr/>
          <p:nvPr/>
        </p:nvSpPr>
        <p:spPr>
          <a:xfrm>
            <a:off x="274320" y="3382853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Probability-weighted</a:t>
            </a:r>
            <a:endParaRPr lang="en-US" sz="950" dirty="0"/>
          </a:p>
          <a:p>
            <a:pPr algn="r" indent="0" marL="0">
              <a:buNone/>
            </a:pPr>
            <a:r>
              <a:rPr lang="en-US" sz="95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16.8%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 and Mandate Check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the Lunar IC Charter's mandate and risk limits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Benchmark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the 15.0% Benchmark; bear case 7.0% in isolation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Investment Committee Decision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600200"/>
            <a:ext cx="9079992" cy="96012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691640"/>
            <a:ext cx="9079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analysis is presented; the decision is the Committee's.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554480" y="2148840"/>
            <a:ext cx="90799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Scenario-weighted return 16.8% vs the 15.0% Benchmark · Risk score 5.5 / 10 ·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2971800"/>
            <a:ext cx="9079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triggers ahead of the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3310128"/>
            <a:ext cx="907999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(15.4% FY2025A): the primary lever on net revenue in a discounting market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EBITDA margin (8.3% FY2025A vs 11.3% FY2024A): the recovery path is the largest swing factor in the valuation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further one-off impairment beyond the SAR 55.4m identified in Q4-2025A: a trigger to re-run the scenario weights, not one-time noise to dismiss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Snoonu's first full consolidated year: the key diversification proof point in FY2026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54480" y="5394960"/>
            <a:ext cx="90799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Investment Committee.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Investment Committee Briefing</dc:title>
  <dc:subject>PptxGenJS Presentation</dc:subject>
  <dc:creator>Faheem</dc:creator>
  <cp:lastModifiedBy>Faheem</cp:lastModifiedBy>
  <cp:revision>1</cp:revision>
  <dcterms:created xsi:type="dcterms:W3CDTF">2026-07-17T06:59:25Z</dcterms:created>
  <dcterms:modified xsi:type="dcterms:W3CDTF">2026-07-17T06:59:25Z</dcterms:modified>
</cp:coreProperties>
</file>