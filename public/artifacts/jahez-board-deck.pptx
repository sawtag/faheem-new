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UNAR_MASTER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32688"/>
          </a:xfrm>
          <a:prstGeom prst="rect">
            <a:avLst/>
          </a:prstGeom>
          <a:solidFill>
            <a:srgbClr val="2A26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92000" cy="32004"/>
          </a:xfrm>
          <a:prstGeom prst="rect">
            <a:avLst/>
          </a:prstGeom>
          <a:solidFill>
            <a:srgbClr val="B08D2A"/>
          </a:solidFill>
          <a:ln/>
        </p:spPr>
      </p:sp>
      <p:sp>
        <p:nvSpPr>
          <p:cNvPr id="4" name="Text 2"/>
          <p:cNvSpPr/>
          <p:nvPr/>
        </p:nvSpPr>
        <p:spPr>
          <a:xfrm>
            <a:off x="9171432" y="1371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LUNAR INVESTMENTS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73952"/>
            <a:ext cx="11274552" cy="0"/>
          </a:xfrm>
          <a:prstGeom prst="line">
            <a:avLst/>
          </a:prstGeom>
          <a:noFill/>
          <a:ln w="9525">
            <a:solidFill>
              <a:srgbClr val="D8D2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Faheem for Lunar Investments, Advisory only. Not investment advice.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Investment Thesis, Jahez International (Tadawul: 6017)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Faheem for Lunar Investments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1274552" cy="530352"/>
          </a:xfrm>
          <a:prstGeom prst="rect">
            <a:avLst/>
          </a:prstGeom>
          <a:solidFill>
            <a:srgbClr val="EFE6CE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188720"/>
            <a:ext cx="110002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 ·  Target price SAR 14.36  ·  +12.3% upside vs SAR 12.79 close  ·  Base IRR 17.1%  ·  Weighted return 16.8% vs 15.0% hurdle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54864" cy="3657600"/>
          </a:xfrm>
          <a:prstGeom prst="rect">
            <a:avLst/>
          </a:prstGeom>
          <a:solidFill>
            <a:srgbClr val="B08D2A"/>
          </a:solidFill>
          <a:ln/>
        </p:spPr>
      </p:sp>
      <p:sp>
        <p:nvSpPr>
          <p:cNvPr id="7" name="Shape 5"/>
          <p:cNvSpPr/>
          <p:nvPr/>
        </p:nvSpPr>
        <p:spPr>
          <a:xfrm>
            <a:off x="512064" y="2011680"/>
            <a:ext cx="350824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212848"/>
            <a:ext cx="30510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Diversification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13232" y="3108960"/>
            <a:ext cx="3051048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Snoonu logistics consolidation (SAR 626.8m of FY25 GMV) de-risks the single-platform delivery model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12920" y="2011680"/>
            <a:ext cx="54864" cy="3657600"/>
          </a:xfrm>
          <a:prstGeom prst="rect">
            <a:avLst/>
          </a:prstGeom>
          <a:solidFill>
            <a:srgbClr val="B08D2A"/>
          </a:solidFill>
          <a:ln/>
        </p:spPr>
      </p:sp>
      <p:sp>
        <p:nvSpPr>
          <p:cNvPr id="11" name="Shape 9"/>
          <p:cNvSpPr/>
          <p:nvPr/>
        </p:nvSpPr>
        <p:spPr>
          <a:xfrm>
            <a:off x="4367784" y="2011680"/>
            <a:ext cx="350824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68952" y="2212848"/>
            <a:ext cx="30510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Margin recovery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68952" y="3108960"/>
            <a:ext cx="3051048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FY25 EBITDA margin of 8.3% is one-off-depressed, not structurally broken, Q1-26 adj. EBITDA of SAR 43.6m stayed positive through a net-loss quarter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68640" y="2011680"/>
            <a:ext cx="54864" cy="3657600"/>
          </a:xfrm>
          <a:prstGeom prst="rect">
            <a:avLst/>
          </a:prstGeom>
          <a:solidFill>
            <a:srgbClr val="B08D2A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3504" y="2011680"/>
            <a:ext cx="350824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24672" y="2212848"/>
            <a:ext cx="30510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Mandate fit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424672" y="3108960"/>
            <a:ext cx="3051048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PASS, SAR 16.6m net cash, Tadawul-listed liquidity, clears Lunar's 15.0% hurdle at a 16.8% weighted return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Faheem Valuation Model, see IC memo and workbook for the full source trail. Advisory only, the Investment Committee decides.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Saudi Quick-Commerce Market Map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dynamics, qualitative positioning only, no invented market-share figures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EFE6CE"/>
          </a:solidFill>
          <a:ln w="19050">
            <a:solidFill>
              <a:srgbClr val="B08D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600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Jahez + Snoonu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3232" y="2130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Incumbent KSA platform diversifying into logistics, FY25 GMV SAR 7,245.2m, 111.6m orders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77356" y="1417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3388" y="1600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HungerStation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33388" y="2130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Established KSA delivery incumbent competitor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886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Keeta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3232" y="4416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Well-funded new entrant, discounting-led KSA expansion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77356" y="3703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3388" y="3886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Rabbit / Ninja / Dingdong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33388" y="4416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Further well-capitalised entrants adding fulfilment-density pressure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Industry &amp; News Pack · Saudi Quick-Commerce, p.2, p.4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FY2025 Unit-Economics Bridge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 x AOV = GMV -&gt; take rate -&gt; net revenue -&gt; adjusted EBITDA (FY2025A, real figures)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111.6m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898648" y="3127248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441448" y="23591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AOV SAR 64.90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01568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01568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GMV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01568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 7,245.2m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843016" y="3127248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385816" y="23591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rate 15.4%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45936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5936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revenue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45936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 2,323.6m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787384" y="3127248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330184" y="23591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 8.3%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290304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90304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Adj. EBITDA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290304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 193.0m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Q4 2025 Earnings Results, p.4, p.8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Valuation, DCF vs Trading Comps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Football field: implied value per share, DCF vs EV/Revenue, EV/EBITDA, P/E triangulation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1554480" y="4572000"/>
            <a:ext cx="9235440" cy="0"/>
          </a:xfrm>
          <a:prstGeom prst="line">
            <a:avLst/>
          </a:prstGeom>
          <a:noFill/>
          <a:ln w="15875">
            <a:solidFill>
              <a:srgbClr val="514B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54480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0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137698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80498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12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88982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31782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23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172200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15000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35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755418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98218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47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206702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49502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58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789920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32720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70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320992" y="2606040"/>
            <a:ext cx="7323082" cy="502920"/>
          </a:xfrm>
          <a:prstGeom prst="rect">
            <a:avLst/>
          </a:prstGeom>
          <a:solidFill>
            <a:srgbClr val="EDE8DC"/>
          </a:solidFill>
          <a:ln w="12700">
            <a:solidFill>
              <a:srgbClr val="B7AF9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406592" y="2286000"/>
            <a:ext cx="91518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comps range (EV/Revenue, EV/EBITDA, P/E)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68174" y="2560320"/>
            <a:ext cx="0" cy="594360"/>
          </a:xfrm>
          <a:prstGeom prst="line">
            <a:avLst/>
          </a:prstGeom>
          <a:noFill/>
          <a:ln w="19050">
            <a:solidFill>
              <a:srgbClr val="2A262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3945214" y="3163824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SAR 24.36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67272" y="2148840"/>
            <a:ext cx="164592" cy="164592"/>
          </a:xfrm>
          <a:prstGeom prst="diamond">
            <a:avLst/>
          </a:prstGeom>
          <a:solidFill>
            <a:srgbClr val="3E6B49"/>
          </a:solidFill>
          <a:ln w="9525">
            <a:solidFill>
              <a:srgbClr val="2A26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43728" y="169164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E6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 target, SAR 14.36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41927" y="2468880"/>
            <a:ext cx="0" cy="777240"/>
          </a:xfrm>
          <a:prstGeom prst="line">
            <a:avLst/>
          </a:prstGeom>
          <a:noFill/>
          <a:ln w="19050">
            <a:solidFill>
              <a:srgbClr val="9B3A2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18967" y="345643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B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Current, SAR 12.79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Market Data &amp; Comparables Snapshot, p.3-4; Faheem DCF (WACC 13.3%)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 IRRs vs the 15% Hurdle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 / base / bull 4-year IRR, probability-weighted 25% / 50% / 25%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011680" y="5394960"/>
            <a:ext cx="8229600" cy="0"/>
          </a:xfrm>
          <a:prstGeom prst="line">
            <a:avLst/>
          </a:prstGeom>
          <a:noFill/>
          <a:ln w="15875">
            <a:solidFill>
              <a:srgbClr val="514B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03220" y="4668870"/>
            <a:ext cx="1554480" cy="726090"/>
          </a:xfrm>
          <a:prstGeom prst="rect">
            <a:avLst/>
          </a:prstGeom>
          <a:solidFill>
            <a:srgbClr val="9B3A2E"/>
          </a:solidFill>
          <a:ln w="6350">
            <a:solidFill>
              <a:srgbClr val="2A26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03220" y="434883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B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7.0%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903220" y="54864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 (25%)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349240" y="3626404"/>
            <a:ext cx="1554480" cy="1768556"/>
          </a:xfrm>
          <a:prstGeom prst="rect">
            <a:avLst/>
          </a:prstGeom>
          <a:solidFill>
            <a:srgbClr val="2A2620"/>
          </a:solidFill>
          <a:ln w="6350">
            <a:solidFill>
              <a:srgbClr val="2A26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49240" y="3306364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17.1%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49240" y="54864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(50%)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95260" y="2707016"/>
            <a:ext cx="1554480" cy="2687944"/>
          </a:xfrm>
          <a:prstGeom prst="rect">
            <a:avLst/>
          </a:prstGeom>
          <a:solidFill>
            <a:srgbClr val="3E6B49"/>
          </a:solidFill>
          <a:ln w="6350">
            <a:solidFill>
              <a:srgbClr val="2A26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95260" y="2386976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6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25.9%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95260" y="54864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 (25%)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011680" y="3840480"/>
            <a:ext cx="8229600" cy="0"/>
          </a:xfrm>
          <a:prstGeom prst="line">
            <a:avLst/>
          </a:prstGeom>
          <a:noFill/>
          <a:ln w="22225">
            <a:solidFill>
              <a:srgbClr val="B08D2A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7772400" y="352958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7B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Lunar hurdle, 15.0%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Faheem Valuation Model, Scenarios &amp; Risk tab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Quantified Risk Assessment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 x impact, 1-5 scale, composite score 5.5 / 10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7320" y="169164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57400" y="169164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169164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37560" y="169164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33172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17320" y="233172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233172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97480" y="233172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37560" y="233172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297180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17320" y="297180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297180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7480" y="297180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37560" y="297180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61188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17320" y="361188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361188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7480" y="361188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37560" y="361188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1732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5740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748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3756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41732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05740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9748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33756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425196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02920" y="361188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02920" y="297180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" y="233172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169164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77240" y="5129784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10312" y="1691640"/>
            <a:ext cx="256032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89504" y="252374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89504" y="25237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889504" y="316382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889504" y="31638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249424" y="316382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249424" y="31638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249424" y="316382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249424" y="31638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609344" y="380390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609344" y="38039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249424" y="252374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249424" y="25237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169164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51206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Price-war margin compression (Keeta/Meituan-funded discounting)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Well-capitalised new entrants (Rabbit, Ninja unicorn, Dingdong)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Earnings volatility / one-offs (SAR 55m Q4-25; Q1-26 net loss)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Snoonu integration / near-term margin dilution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Valuation-data ambiguity (203m vs 217m shares; 92.8x trailing P/E)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WACC / terminal-value sensitivity (value ∝ WACC−g spread)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4" name="Text 51"/>
          <p:cNvSpPr/>
          <p:nvPr/>
        </p:nvSpPr>
        <p:spPr>
          <a:xfrm>
            <a:off x="5074920" y="5486400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Composite score (peak-weighted): 5.5 / 10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Industry &amp; News Pack, Market Data &amp; Comparables Snapshot, Q4 2025 Earnings Results, FY2025 Earnings Call, see register for exact pages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Mandate Fit, Lunar IC Charter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Screened against Lunar's investment mandate and risk limits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455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188720"/>
                <a:gridCol w="6245352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Detail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Sector mandate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Quick-commerce &amp; logistics falls within the Technology &amp; Consumer mandate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IRR hurdle (15%)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Weighted return 16.8% vs 15.0% hurdle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Single-name concentration (10% cap)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PASS*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Sized within cap, final ticket sizing is an IC decision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Liquidity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Tadawul-listed (6017) with active daily trading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Compliance screen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6.01%, cash 19.03% of market cap (both &lt;33%)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0749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Concentration pass is directional, final ticket sizing is an Investment Committee decision, not asserted here.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Lunar IC Charter &amp; Investment Mandate, p.3-5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1554480" y="1920240"/>
            <a:ext cx="9079992" cy="1051560"/>
          </a:xfrm>
          <a:prstGeom prst="rect">
            <a:avLst/>
          </a:prstGeom>
          <a:solidFill>
            <a:srgbClr val="2A2620"/>
          </a:solidFill>
          <a:ln w="19050">
            <a:solidFill>
              <a:srgbClr val="B08D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554480" y="1965960"/>
            <a:ext cx="90799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2578608"/>
            <a:ext cx="9079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 ·  Target price SAR 14.36 (+12.3% upside)  ·  Weighted return 16.8% vs 15.0% hurdle  ·  Risk score 5.5/10  ·  Compliance PASS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554480" y="3520440"/>
            <a:ext cx="90799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 only: the investment decision rests with the committee.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source trail: IC memo and Excel valuation workbook, every figure traces to a corpus document page.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Lunar Investments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Jahez International, Board Deck</dc:title>
  <dc:subject>PptxGenJS Presentation</dc:subject>
  <dc:creator>Faheem</dc:creator>
  <cp:lastModifiedBy>Faheem</cp:lastModifiedBy>
  <cp:revision>1</cp:revision>
  <dcterms:created xsi:type="dcterms:W3CDTF">2026-07-15T20:13:39Z</dcterms:created>
  <dcterms:modified xsi:type="dcterms:W3CDTF">2026-07-15T20:13:39Z</dcterms:modified>
</cp:coreProperties>
</file>