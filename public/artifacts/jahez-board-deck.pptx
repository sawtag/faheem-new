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UNAR_MASTER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2A26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92000" cy="32004"/>
          </a:xfrm>
          <a:prstGeom prst="rect">
            <a:avLst/>
          </a:prstGeom>
          <a:solidFill>
            <a:srgbClr val="B08D2A"/>
          </a:solidFill>
          <a:ln/>
        </p:spPr>
      </p:sp>
      <p:sp>
        <p:nvSpPr>
          <p:cNvPr id="4" name="Text 2"/>
          <p:cNvSpPr/>
          <p:nvPr/>
        </p:nvSpPr>
        <p:spPr>
          <a:xfrm>
            <a:off x="9171432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LUNAR INVESTMENTS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Faheem for Lunar Investments — Advisory only. Not investment advice.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4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4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897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Thesis — Jahez International (Tadawul: 6017)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Faheem for Lunar Investments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530352"/>
          </a:xfrm>
          <a:prstGeom prst="rect">
            <a:avLst/>
          </a:prstGeom>
          <a:solidFill>
            <a:srgbClr val="EFE6CE"/>
          </a:solidFill>
          <a:ln w="12700">
            <a:solidFill>
              <a:srgbClr val="B08D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110002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 ·  Target price SAR 14.36  ·  +12.3% upside vs SAR 12.79 close  ·  Base IRR 17.1%  ·  Weighted return 16.8% vs 15.0% hurdle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" cy="3657600"/>
          </a:xfrm>
          <a:prstGeom prst="rect">
            <a:avLst/>
          </a:prstGeom>
          <a:solidFill>
            <a:srgbClr val="B08D2A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2011680"/>
            <a:ext cx="350824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212848"/>
            <a:ext cx="30510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108960"/>
            <a:ext cx="305104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A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Snoonu logistics consolidation (SAR 626.8m of FY25 GMV) de-risks the single-platform delivery 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2920" y="2011680"/>
            <a:ext cx="54864" cy="3657600"/>
          </a:xfrm>
          <a:prstGeom prst="rect">
            <a:avLst/>
          </a:prstGeom>
          <a:solidFill>
            <a:srgbClr val="B08D2A"/>
          </a:solidFill>
          <a:ln/>
        </p:spPr>
      </p:sp>
      <p:sp>
        <p:nvSpPr>
          <p:cNvPr id="11" name="Shape 9"/>
          <p:cNvSpPr/>
          <p:nvPr/>
        </p:nvSpPr>
        <p:spPr>
          <a:xfrm>
            <a:off x="4367784" y="2011680"/>
            <a:ext cx="350824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8952" y="2212848"/>
            <a:ext cx="30510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recovery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8952" y="3108960"/>
            <a:ext cx="305104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A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EBITDA margin of 8.3% is one-off-depressed, not structurally broken — Q1-26 adj. EBITDA of SAR 43.6m stayed positive through a net-loss quarter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68640" y="2011680"/>
            <a:ext cx="54864" cy="3657600"/>
          </a:xfrm>
          <a:prstGeom prst="rect">
            <a:avLst/>
          </a:prstGeom>
          <a:solidFill>
            <a:srgbClr val="B08D2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3504" y="2011680"/>
            <a:ext cx="350824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4672" y="2212848"/>
            <a:ext cx="30510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Mandate fit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24672" y="3108960"/>
            <a:ext cx="305104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A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Shariah PASS, SAR 16.6m net cash, Tadawul-listed liquidity — clears Lunar's 15.0% hurdle at a 16.8% weighted return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Faheem Valuation Model — see IC memo and workbook for the full source trail. Advisory only — the Investment Committee decides.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4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897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Quick-Commerce Market Map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dynamics — qualitative positioning only, no invented market-share figures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54396" cy="1965960"/>
          </a:xfrm>
          <a:prstGeom prst="roundRect">
            <a:avLst>
              <a:gd name="adj" fmla="val 2791"/>
            </a:avLst>
          </a:prstGeom>
          <a:solidFill>
            <a:srgbClr val="EFE6CE"/>
          </a:solidFill>
          <a:ln w="19050">
            <a:solidFill>
              <a:srgbClr val="B08D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00200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Jahez + Snoonu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130552"/>
            <a:ext cx="49423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KSA platform diversifying into logistics — FY25 GMV SAR 7,245.2m, 111.6m orders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77356" y="1417320"/>
            <a:ext cx="5454396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3388" y="1600200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HungerStation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3388" y="2130552"/>
            <a:ext cx="49423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KSA delivery incumbent competitor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5454396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886200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4416552"/>
            <a:ext cx="49423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Well-funded new entrant, discounting-led KSA expansion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77356" y="3703320"/>
            <a:ext cx="5454396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3388" y="3886200"/>
            <a:ext cx="49423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Rabbit / Ninja / Dingdong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3388" y="4416552"/>
            <a:ext cx="49423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well-capitalised entrants adding fulfilment-density pressure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Industry &amp; News Pack — Saudi Quick-Commerce, p.2, p.4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4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897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FY2025 Unit-Economics Bridge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x AOV = GMV -&gt; take rate -&gt; net revenue -&gt; adjusted EBITDA (FY2025A, real figures)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2441448" cy="1371600"/>
          </a:xfrm>
          <a:prstGeom prst="roundRect">
            <a:avLst>
              <a:gd name="adj" fmla="val 3333"/>
            </a:avLst>
          </a:prstGeom>
          <a:solidFill>
            <a:srgbClr val="2A2620"/>
          </a:solidFill>
          <a:ln w="12700">
            <a:solidFill>
              <a:srgbClr val="B08D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0779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2441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111.6m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98648" y="31272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41448" y="23591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1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AOV SAR 64.90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2743200"/>
            <a:ext cx="2441448" cy="1371600"/>
          </a:xfrm>
          <a:prstGeom prst="roundRect">
            <a:avLst>
              <a:gd name="adj" fmla="val 3333"/>
            </a:avLst>
          </a:prstGeom>
          <a:solidFill>
            <a:srgbClr val="2A2620"/>
          </a:solidFill>
          <a:ln w="12700">
            <a:solidFill>
              <a:srgbClr val="B08D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290779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01568" y="3291840"/>
            <a:ext cx="2441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7,245.2m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43016" y="31272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85816" y="23591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1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rate 15.4%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45936" y="2743200"/>
            <a:ext cx="2441448" cy="1371600"/>
          </a:xfrm>
          <a:prstGeom prst="roundRect">
            <a:avLst>
              <a:gd name="adj" fmla="val 3333"/>
            </a:avLst>
          </a:prstGeom>
          <a:solidFill>
            <a:srgbClr val="2A2620"/>
          </a:solidFill>
          <a:ln w="12700">
            <a:solidFill>
              <a:srgbClr val="B08D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290779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5936" y="3291840"/>
            <a:ext cx="2441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2,323.6m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87384" y="31272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30184" y="23591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1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 8.3%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90304" y="2743200"/>
            <a:ext cx="2441448" cy="1371600"/>
          </a:xfrm>
          <a:prstGeom prst="roundRect">
            <a:avLst>
              <a:gd name="adj" fmla="val 3333"/>
            </a:avLst>
          </a:prstGeom>
          <a:solidFill>
            <a:srgbClr val="2A2620"/>
          </a:solidFill>
          <a:ln w="12700">
            <a:solidFill>
              <a:srgbClr val="B08D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0304" y="290779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Adj. EBITDA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90304" y="3291840"/>
            <a:ext cx="2441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193.0m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Q4 2025 Earnings Results, p.4, p.8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4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897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 — DCF vs Trading Comps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Football field: implied value per share, DCF vs EV/Revenue, EV/EBITDA, P/E triangulation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554480" y="4572000"/>
            <a:ext cx="9235440" cy="0"/>
          </a:xfrm>
          <a:prstGeom prst="line">
            <a:avLst/>
          </a:prstGeom>
          <a:noFill/>
          <a:ln w="15875">
            <a:solidFill>
              <a:srgbClr val="514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4572000"/>
            <a:ext cx="0" cy="73152"/>
          </a:xfrm>
          <a:prstGeom prst="line">
            <a:avLst/>
          </a:prstGeom>
          <a:noFill/>
          <a:ln w="12700">
            <a:solidFill>
              <a:srgbClr val="514B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663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137698" y="4572000"/>
            <a:ext cx="0" cy="73152"/>
          </a:xfrm>
          <a:prstGeom prst="line">
            <a:avLst/>
          </a:prstGeom>
          <a:noFill/>
          <a:ln w="12700">
            <a:solidFill>
              <a:srgbClr val="514B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80498" y="4663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88982" y="4572000"/>
            <a:ext cx="0" cy="73152"/>
          </a:xfrm>
          <a:prstGeom prst="line">
            <a:avLst/>
          </a:prstGeom>
          <a:noFill/>
          <a:ln w="12700">
            <a:solidFill>
              <a:srgbClr val="514B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1782" y="4663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23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72200" y="4572000"/>
            <a:ext cx="0" cy="73152"/>
          </a:xfrm>
          <a:prstGeom prst="line">
            <a:avLst/>
          </a:prstGeom>
          <a:noFill/>
          <a:ln w="12700">
            <a:solidFill>
              <a:srgbClr val="514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4663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35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55418" y="4572000"/>
            <a:ext cx="0" cy="73152"/>
          </a:xfrm>
          <a:prstGeom prst="line">
            <a:avLst/>
          </a:prstGeom>
          <a:noFill/>
          <a:ln w="12700">
            <a:solidFill>
              <a:srgbClr val="514B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8218" y="4663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47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206702" y="4572000"/>
            <a:ext cx="0" cy="73152"/>
          </a:xfrm>
          <a:prstGeom prst="line">
            <a:avLst/>
          </a:prstGeom>
          <a:noFill/>
          <a:ln w="12700">
            <a:solidFill>
              <a:srgbClr val="514B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49502" y="4663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58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789920" y="4572000"/>
            <a:ext cx="0" cy="73152"/>
          </a:xfrm>
          <a:prstGeom prst="line">
            <a:avLst/>
          </a:prstGeom>
          <a:noFill/>
          <a:ln w="12700">
            <a:solidFill>
              <a:srgbClr val="514B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0" y="4663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70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20992" y="2606040"/>
            <a:ext cx="7323082" cy="502920"/>
          </a:xfrm>
          <a:prstGeom prst="rect">
            <a:avLst/>
          </a:prstGeom>
          <a:solidFill>
            <a:srgbClr val="EDE8DC"/>
          </a:solidFill>
          <a:ln w="12700">
            <a:solidFill>
              <a:srgbClr val="B7AF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06592" y="2286000"/>
            <a:ext cx="9151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1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comps range (EV/Revenue, EV/EBITDA, P/E)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68174" y="2560320"/>
            <a:ext cx="0" cy="594360"/>
          </a:xfrm>
          <a:prstGeom prst="line">
            <a:avLst/>
          </a:prstGeom>
          <a:noFill/>
          <a:ln w="19050">
            <a:solidFill>
              <a:srgbClr val="2A262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945214" y="316382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1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SAR 24.36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67272" y="2148840"/>
            <a:ext cx="164592" cy="164592"/>
          </a:xfrm>
          <a:prstGeom prst="diamond">
            <a:avLst/>
          </a:prstGeom>
          <a:solidFill>
            <a:srgbClr val="3E6B49"/>
          </a:solidFill>
          <a:ln w="9525">
            <a:solidFill>
              <a:srgbClr val="2A26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43728" y="1691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6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target — SAR 14.36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1927" y="2468880"/>
            <a:ext cx="0" cy="777240"/>
          </a:xfrm>
          <a:prstGeom prst="line">
            <a:avLst/>
          </a:prstGeom>
          <a:noFill/>
          <a:ln w="19050">
            <a:solidFill>
              <a:srgbClr val="9B3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18967" y="3456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— SAR 12.79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 Data &amp; Comparables Snapshot, p.3-4; Faheem DCF (WACC 13.3%)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4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897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IRRs vs the 15% Hurdle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 / base / bull 4-year IRR, probability-weighted 25% / 50% / 25%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0" y="5394960"/>
            <a:ext cx="8229600" cy="0"/>
          </a:xfrm>
          <a:prstGeom prst="line">
            <a:avLst/>
          </a:prstGeom>
          <a:noFill/>
          <a:ln w="15875">
            <a:solidFill>
              <a:srgbClr val="514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03220" y="4668870"/>
            <a:ext cx="1554480" cy="726090"/>
          </a:xfrm>
          <a:prstGeom prst="rect">
            <a:avLst/>
          </a:prstGeom>
          <a:solidFill>
            <a:srgbClr val="9B3A2E"/>
          </a:solidFill>
          <a:ln w="6350">
            <a:solidFill>
              <a:srgbClr val="2A26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03220" y="434883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03220" y="5486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 (25%)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49240" y="3626404"/>
            <a:ext cx="1554480" cy="1768556"/>
          </a:xfrm>
          <a:prstGeom prst="rect">
            <a:avLst/>
          </a:prstGeom>
          <a:solidFill>
            <a:srgbClr val="2A2620"/>
          </a:solidFill>
          <a:ln w="6350">
            <a:solidFill>
              <a:srgbClr val="2A26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33063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5486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(50%)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95260" y="2707016"/>
            <a:ext cx="1554480" cy="2687944"/>
          </a:xfrm>
          <a:prstGeom prst="rect">
            <a:avLst/>
          </a:prstGeom>
          <a:solidFill>
            <a:srgbClr val="3E6B49"/>
          </a:solidFill>
          <a:ln w="6350">
            <a:solidFill>
              <a:srgbClr val="2A26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5260" y="23869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95260" y="5486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 (25%)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0" y="3840480"/>
            <a:ext cx="8229600" cy="0"/>
          </a:xfrm>
          <a:prstGeom prst="line">
            <a:avLst/>
          </a:prstGeom>
          <a:noFill/>
          <a:ln w="22225">
            <a:solidFill>
              <a:srgbClr val="B08D2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772400" y="35295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7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Lunar hurdle — 15.0%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Faheem Valuation Model — Scenarios &amp; Risk tab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4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897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Quantified Risk Assessment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x impact, 1-5 scale — composite score 5.5 / 10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691640"/>
            <a:ext cx="612648" cy="612648"/>
          </a:xfrm>
          <a:prstGeom prst="rect">
            <a:avLst/>
          </a:prstGeom>
          <a:solidFill>
            <a:srgbClr val="9A7B25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691640"/>
            <a:ext cx="612648" cy="612648"/>
          </a:xfrm>
          <a:prstGeom prst="rect">
            <a:avLst/>
          </a:prstGeom>
          <a:solidFill>
            <a:srgbClr val="9B3A2E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1691640"/>
            <a:ext cx="612648" cy="612648"/>
          </a:xfrm>
          <a:prstGeom prst="rect">
            <a:avLst/>
          </a:prstGeom>
          <a:solidFill>
            <a:srgbClr val="9B3A2E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691640"/>
            <a:ext cx="612648" cy="612648"/>
          </a:xfrm>
          <a:prstGeom prst="rect">
            <a:avLst/>
          </a:prstGeom>
          <a:solidFill>
            <a:srgbClr val="9B3A2E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3172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2331720"/>
            <a:ext cx="612648" cy="612648"/>
          </a:xfrm>
          <a:prstGeom prst="rect">
            <a:avLst/>
          </a:prstGeom>
          <a:solidFill>
            <a:srgbClr val="9A7B25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2331720"/>
            <a:ext cx="612648" cy="612648"/>
          </a:xfrm>
          <a:prstGeom prst="rect">
            <a:avLst/>
          </a:prstGeom>
          <a:solidFill>
            <a:srgbClr val="9A7B25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2331720"/>
            <a:ext cx="612648" cy="612648"/>
          </a:xfrm>
          <a:prstGeom prst="rect">
            <a:avLst/>
          </a:prstGeom>
          <a:solidFill>
            <a:srgbClr val="9B3A2E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2331720"/>
            <a:ext cx="612648" cy="612648"/>
          </a:xfrm>
          <a:prstGeom prst="rect">
            <a:avLst/>
          </a:prstGeom>
          <a:solidFill>
            <a:srgbClr val="9B3A2E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97180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297180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2971800"/>
            <a:ext cx="612648" cy="612648"/>
          </a:xfrm>
          <a:prstGeom prst="rect">
            <a:avLst/>
          </a:prstGeom>
          <a:solidFill>
            <a:srgbClr val="9A7B25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7480" y="2971800"/>
            <a:ext cx="612648" cy="612648"/>
          </a:xfrm>
          <a:prstGeom prst="rect">
            <a:avLst/>
          </a:prstGeom>
          <a:solidFill>
            <a:srgbClr val="9A7B25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2971800"/>
            <a:ext cx="612648" cy="612648"/>
          </a:xfrm>
          <a:prstGeom prst="rect">
            <a:avLst/>
          </a:prstGeom>
          <a:solidFill>
            <a:srgbClr val="9B3A2E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61188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361188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361188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7480" y="3611880"/>
            <a:ext cx="612648" cy="612648"/>
          </a:xfrm>
          <a:prstGeom prst="rect">
            <a:avLst/>
          </a:prstGeom>
          <a:solidFill>
            <a:srgbClr val="9A7B25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3611880"/>
            <a:ext cx="612648" cy="612648"/>
          </a:xfrm>
          <a:prstGeom prst="rect">
            <a:avLst/>
          </a:prstGeom>
          <a:solidFill>
            <a:srgbClr val="9A7B25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25196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17320" y="425196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57400" y="425196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7480" y="425196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4251960"/>
            <a:ext cx="612648" cy="612648"/>
          </a:xfrm>
          <a:prstGeom prst="rect">
            <a:avLst/>
          </a:prstGeom>
          <a:solidFill>
            <a:srgbClr val="3E6B49">
              <a:alpha val="22000"/>
            </a:srgbClr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91032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17320" y="491032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57400" y="491032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97480" y="491032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491032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425196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361188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297180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233172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169164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" y="51297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0312" y="1691640"/>
            <a:ext cx="25603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89504" y="2523744"/>
            <a:ext cx="256032" cy="256032"/>
          </a:xfrm>
          <a:prstGeom prst="ellipse">
            <a:avLst/>
          </a:prstGeom>
          <a:solidFill>
            <a:srgbClr val="2A2620"/>
          </a:solidFill>
          <a:ln w="12700">
            <a:solidFill>
              <a:srgbClr val="F5F1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89504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89504" y="3163824"/>
            <a:ext cx="256032" cy="256032"/>
          </a:xfrm>
          <a:prstGeom prst="ellipse">
            <a:avLst/>
          </a:prstGeom>
          <a:solidFill>
            <a:srgbClr val="2A2620"/>
          </a:solidFill>
          <a:ln w="12700">
            <a:solidFill>
              <a:srgbClr val="F5F1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89504" y="3163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49424" y="3163824"/>
            <a:ext cx="256032" cy="256032"/>
          </a:xfrm>
          <a:prstGeom prst="ellipse">
            <a:avLst/>
          </a:prstGeom>
          <a:solidFill>
            <a:srgbClr val="2A2620"/>
          </a:solidFill>
          <a:ln w="12700">
            <a:solidFill>
              <a:srgbClr val="F5F1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49424" y="3163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49424" y="3163824"/>
            <a:ext cx="256032" cy="256032"/>
          </a:xfrm>
          <a:prstGeom prst="ellipse">
            <a:avLst/>
          </a:prstGeom>
          <a:solidFill>
            <a:srgbClr val="2A2620"/>
          </a:solidFill>
          <a:ln w="12700">
            <a:solidFill>
              <a:srgbClr val="F5F1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49424" y="3163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609344" y="3803904"/>
            <a:ext cx="256032" cy="256032"/>
          </a:xfrm>
          <a:prstGeom prst="ellipse">
            <a:avLst/>
          </a:prstGeom>
          <a:solidFill>
            <a:srgbClr val="2A2620"/>
          </a:solidFill>
          <a:ln w="12700">
            <a:solidFill>
              <a:srgbClr val="F5F1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09344" y="38039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49424" y="2523744"/>
            <a:ext cx="256032" cy="256032"/>
          </a:xfrm>
          <a:prstGeom prst="ellipse">
            <a:avLst/>
          </a:prstGeom>
          <a:solidFill>
            <a:srgbClr val="2A2620"/>
          </a:solidFill>
          <a:ln w="12700">
            <a:solidFill>
              <a:srgbClr val="F5F1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49424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1206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1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F1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1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Price-war margin compression (Keeta/Meituan-funded discounting)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Well-capitalised new entrants (Rabbit, Ninja unicorn, Dingdong)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Earnings volatility / one-offs (SAR 55m Q4-25; Q1-26 net loss)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Snoonu integration / near-term margin dilution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Valuation-data ambiguity (203m vs 217m shares; 92.8x trailing P/E)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WACC / terminal-value sensitivity (value ∝ WACC−g spread)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4" name="Text 51"/>
          <p:cNvSpPr/>
          <p:nvPr/>
        </p:nvSpPr>
        <p:spPr>
          <a:xfrm>
            <a:off x="5074920" y="54864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1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 (peak-weighted): 5.5 / 10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Industry &amp; News Pack, Market Data &amp; Comparables Snapshot, Q4 2025 Earnings Results, FY2025 Earnings Call — see register for exact pages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4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897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Mandate Fit — Lunar IC Charter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Screened against Lunar's investment mandate and risk limits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6245352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F1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F1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F1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F1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 mandate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E6B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Quick-commerce &amp; logistics falls within the Technology &amp; Consumer mandate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 hurdle (15%)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E6B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return 16.8% vs 15.0% hurdle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Single-name concentration (10% cap)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E6B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Sized within cap — final ticket sizing is an IC 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E6B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Tadawul-listed (6017) with active daily trading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Shariah screen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E6B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Debt 6.01%, cash 19.03% of market cap (both &lt;33%)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74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Concentration pass is directional — final ticket sizing is an Investment Committee decision, not asserted here.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Lunar IC Charter &amp; Investment Mandate, p.3-5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4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897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554480" y="1920240"/>
            <a:ext cx="9079992" cy="1051560"/>
          </a:xfrm>
          <a:prstGeom prst="rect">
            <a:avLst/>
          </a:prstGeom>
          <a:solidFill>
            <a:srgbClr val="2A2620"/>
          </a:solidFill>
          <a:ln w="19050">
            <a:solidFill>
              <a:srgbClr val="B08D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965960"/>
            <a:ext cx="9079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2578608"/>
            <a:ext cx="9079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 ·  Target price SAR 14.36 (+12.3% upside)  ·  Weighted return 16.8% vs 15.0% hurdle  ·  Risk score 5.5/10  ·  Shariah PASS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3520440"/>
            <a:ext cx="9079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A2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only — the investment decision rests with the committee.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1081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source trail: IC memo and Excel valuation workbook — every figure traces to a corpus document page.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48872" y="651052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64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Lunar Investments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Jahez International — Board Deck</dc:title>
  <dc:subject>PptxGenJS Presentation</dc:subject>
  <dc:creator>Faheem</dc:creator>
  <cp:lastModifiedBy>Faheem</cp:lastModifiedBy>
  <cp:revision>1</cp:revision>
  <dcterms:created xsi:type="dcterms:W3CDTF">2026-07-12T21:22:20Z</dcterms:created>
  <dcterms:modified xsi:type="dcterms:W3CDTF">2026-07-12T21:22:20Z</dcterms:modified>
</cp:coreProperties>
</file>