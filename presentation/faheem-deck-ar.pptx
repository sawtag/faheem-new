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heem-glyph-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11480"/>
            <a:ext cx="370056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1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EAuhln4EobiPMaurYdSCbPzrmnPThplv/view?usp=sharing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80000">
            <a:off x="-2926080" y="-2377440"/>
            <a:ext cx="10515600" cy="5669280"/>
          </a:xfrm>
          <a:prstGeom prst="rect">
            <a:avLst/>
          </a:prstGeom>
          <a:solidFill>
            <a:srgbClr val="1228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0880000">
            <a:off x="5120640" y="3108960"/>
            <a:ext cx="11430000" cy="6583680"/>
          </a:xfrm>
          <a:prstGeom prst="rect">
            <a:avLst/>
          </a:prstGeom>
          <a:solidFill>
            <a:srgbClr val="041437">
              <a:alpha val="58000"/>
            </a:srgbClr>
          </a:solidFill>
          <a:ln/>
        </p:spPr>
      </p:sp>
      <p:pic>
        <p:nvPicPr>
          <p:cNvPr id="4" name="Image 0" descr="assets/amad-hacka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502920"/>
            <a:ext cx="1737360" cy="1062731"/>
          </a:xfrm>
          <a:prstGeom prst="rect">
            <a:avLst/>
          </a:prstGeom>
        </p:spPr>
      </p:pic>
      <p:pic>
        <p:nvPicPr>
          <p:cNvPr id="5" name="Image 1" descr="assets/faheem-glyph-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58" y="1993392"/>
            <a:ext cx="1184179" cy="11704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70248" y="32186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4000" dirty="0">
                <a:solidFill>
                  <a:srgbClr val="FFFFFF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فهيم</a:t>
            </a:r>
            <a:endParaRPr lang="ar-SA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427024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spc="400" kern="0" dirty="0">
                <a:solidFill>
                  <a:srgbClr val="5C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A H E E 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2648" y="44988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27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منصة فهيم: الذكاء التوكيلي للمستثمر السعودي</a:t>
            </a:r>
            <a:endParaRPr lang="ar-SA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612648" y="5193792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700" dirty="0">
                <a:solidFill>
                  <a:srgbClr val="5CC9A8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فريق لونار</a:t>
            </a:r>
            <a:endParaRPr lang="ar-SA" sz="1700" dirty="0"/>
          </a:p>
        </p:txBody>
      </p:sp>
      <p:pic>
        <p:nvPicPr>
          <p:cNvPr id="10" name="Image 2" descr="assets/sponsor-w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407" y="5989320"/>
            <a:ext cx="1600200" cy="313320"/>
          </a:xfrm>
          <a:prstGeom prst="rect">
            <a:avLst/>
          </a:prstGeom>
        </p:spPr>
      </p:pic>
      <p:pic>
        <p:nvPicPr>
          <p:cNvPr id="11" name="Image 3" descr="assets/sponsor-t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943600"/>
            <a:ext cx="1051560" cy="398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أعضاء الفريق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خمس خبرات متكاملة: مال واستثمار، برمجة وعلوم بيانات، وتصميم واجهات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9567367" y="2468880"/>
            <a:ext cx="2011680" cy="27432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47427" y="2852928"/>
            <a:ext cx="1051560" cy="1051560"/>
          </a:xfrm>
          <a:prstGeom prst="ellipse">
            <a:avLst/>
          </a:prstGeom>
          <a:solidFill>
            <a:srgbClr val="E8EEF8"/>
          </a:solidFill>
          <a:ln w="9525">
            <a:solidFill>
              <a:srgbClr val="CBD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47427" y="303580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0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</a:t>
            </a:r>
            <a:endParaRPr lang="ar-SA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58807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فهد العثمان</a:t>
            </a:r>
            <a:endParaRPr lang="ar-SA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658807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خبير مالي</a:t>
            </a:r>
            <a:endParaRPr lang="ar-SA" sz="1150" dirty="0"/>
          </a:p>
        </p:txBody>
      </p:sp>
      <p:sp>
        <p:nvSpPr>
          <p:cNvPr id="9" name="Shape 7"/>
          <p:cNvSpPr/>
          <p:nvPr/>
        </p:nvSpPr>
        <p:spPr>
          <a:xfrm>
            <a:off x="7327087" y="2468880"/>
            <a:ext cx="2011680" cy="27432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07147" y="2852928"/>
            <a:ext cx="1051560" cy="1051560"/>
          </a:xfrm>
          <a:prstGeom prst="ellipse">
            <a:avLst/>
          </a:prstGeom>
          <a:solidFill>
            <a:srgbClr val="E8EEF8"/>
          </a:solidFill>
          <a:ln w="9525">
            <a:solidFill>
              <a:srgbClr val="CBD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07147" y="303580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0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18527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علي أبوخمسين</a:t>
            </a:r>
            <a:endParaRPr lang="ar-SA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418527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خبير مالي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5086807" y="2468880"/>
            <a:ext cx="2011680" cy="27432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66867" y="2852928"/>
            <a:ext cx="1051560" cy="1051560"/>
          </a:xfrm>
          <a:prstGeom prst="ellipse">
            <a:avLst/>
          </a:prstGeom>
          <a:solidFill>
            <a:srgbClr val="E8EEF8"/>
          </a:solidFill>
          <a:ln w="9525">
            <a:solidFill>
              <a:srgbClr val="CBD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66867" y="303580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0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178247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سعود شاهين</a:t>
            </a:r>
            <a:endParaRPr lang="ar-SA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178247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مبرمج وعالِم بيانات</a:t>
            </a:r>
            <a:endParaRPr lang="ar-SA" sz="1150" dirty="0"/>
          </a:p>
        </p:txBody>
      </p:sp>
      <p:sp>
        <p:nvSpPr>
          <p:cNvPr id="19" name="Shape 17"/>
          <p:cNvSpPr/>
          <p:nvPr/>
        </p:nvSpPr>
        <p:spPr>
          <a:xfrm>
            <a:off x="2846527" y="2468880"/>
            <a:ext cx="2011680" cy="27432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26587" y="2852928"/>
            <a:ext cx="1051560" cy="1051560"/>
          </a:xfrm>
          <a:prstGeom prst="ellipse">
            <a:avLst/>
          </a:prstGeom>
          <a:solidFill>
            <a:srgbClr val="E8EEF8"/>
          </a:solidFill>
          <a:ln w="9525">
            <a:solidFill>
              <a:srgbClr val="CBD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26587" y="303580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0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2937967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ريما القويعي</a:t>
            </a:r>
            <a:endParaRPr lang="ar-SA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2937967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مبرمجة وعالِمة بيانات</a:t>
            </a:r>
            <a:endParaRPr lang="ar-SA" sz="1150" dirty="0"/>
          </a:p>
        </p:txBody>
      </p:sp>
      <p:sp>
        <p:nvSpPr>
          <p:cNvPr id="24" name="Shape 22"/>
          <p:cNvSpPr/>
          <p:nvPr/>
        </p:nvSpPr>
        <p:spPr>
          <a:xfrm>
            <a:off x="606247" y="2468880"/>
            <a:ext cx="2011680" cy="27432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6307" y="2852928"/>
            <a:ext cx="1051560" cy="1051560"/>
          </a:xfrm>
          <a:prstGeom prst="ellipse">
            <a:avLst/>
          </a:prstGeom>
          <a:solidFill>
            <a:srgbClr val="E8EEF8"/>
          </a:solidFill>
          <a:ln w="9525">
            <a:solidFill>
              <a:srgbClr val="CBD8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86307" y="303580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0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</a:t>
            </a:r>
            <a:endParaRPr lang="ar-SA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أروى عسيري</a:t>
            </a:r>
            <a:endParaRPr lang="ar-SA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97687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مصممة واجهات</a:t>
            </a:r>
            <a:endParaRPr lang="ar-SA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المحتويات</a:t>
            </a:r>
            <a:endParaRPr lang="ar-SA" sz="2600" dirty="0"/>
          </a:p>
        </p:txBody>
      </p:sp>
      <p:sp>
        <p:nvSpPr>
          <p:cNvPr id="3" name="Shape 1"/>
          <p:cNvSpPr/>
          <p:nvPr/>
        </p:nvSpPr>
        <p:spPr>
          <a:xfrm>
            <a:off x="11103559" y="17922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03559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66967" y="179222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أعضاء الفريق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11103559" y="268833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03559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66967" y="26883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المشكلة وحلها</a:t>
            </a:r>
            <a:endParaRPr lang="ar-SA" sz="1600" dirty="0"/>
          </a:p>
        </p:txBody>
      </p:sp>
      <p:sp>
        <p:nvSpPr>
          <p:cNvPr id="9" name="Shape 7"/>
          <p:cNvSpPr/>
          <p:nvPr/>
        </p:nvSpPr>
        <p:spPr>
          <a:xfrm>
            <a:off x="11103559" y="358444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03559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66967" y="358444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وصف الفكرة</a:t>
            </a:r>
            <a:endParaRPr lang="ar-SA" sz="1600" dirty="0"/>
          </a:p>
        </p:txBody>
      </p:sp>
      <p:sp>
        <p:nvSpPr>
          <p:cNvPr id="12" name="Shape 10"/>
          <p:cNvSpPr/>
          <p:nvPr/>
        </p:nvSpPr>
        <p:spPr>
          <a:xfrm>
            <a:off x="11103559" y="44805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03559" y="4480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66967" y="448056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التقنيات المستخدمة</a:t>
            </a:r>
            <a:endParaRPr lang="ar-SA" sz="1600" dirty="0"/>
          </a:p>
        </p:txBody>
      </p:sp>
      <p:sp>
        <p:nvSpPr>
          <p:cNvPr id="15" name="Shape 13"/>
          <p:cNvSpPr/>
          <p:nvPr/>
        </p:nvSpPr>
        <p:spPr>
          <a:xfrm>
            <a:off x="5349240" y="22402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4924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22402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جميع البيانات المستخدمة (نصية وغير نصية)</a:t>
            </a:r>
            <a:endParaRPr lang="ar-SA" sz="1600" dirty="0"/>
          </a:p>
        </p:txBody>
      </p:sp>
      <p:sp>
        <p:nvSpPr>
          <p:cNvPr id="18" name="Shape 16"/>
          <p:cNvSpPr/>
          <p:nvPr/>
        </p:nvSpPr>
        <p:spPr>
          <a:xfrm>
            <a:off x="5349240" y="313639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4924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313639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كيفية توفير هذه البيانات وكيفية استخدامها</a:t>
            </a:r>
            <a:endParaRPr lang="ar-SA" sz="1600" dirty="0"/>
          </a:p>
        </p:txBody>
      </p:sp>
      <p:sp>
        <p:nvSpPr>
          <p:cNvPr id="21" name="Shape 19"/>
          <p:cNvSpPr/>
          <p:nvPr/>
        </p:nvSpPr>
        <p:spPr>
          <a:xfrm>
            <a:off x="5349240" y="403250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61F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4924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403250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الملخص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المشكلة: قرارات بمليارات الريالات تُبنى يدويًا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التحليل المالي للشركات والاستثمارات بطيء ومكلف ومشتّت بين مئات المصادر وعشرات الأشخاص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9041587" y="1691640"/>
            <a:ext cx="2537460" cy="3063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82935" y="1929384"/>
            <a:ext cx="658368" cy="65836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6" name="Image 0" descr="assets/ic-clock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0944" y="2087392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24467" y="2770632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+129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24467" y="3575304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عمل</a:t>
            </a:r>
            <a:endParaRPr lang="ar-SA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224467" y="397764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لإعداد مذكرة ائتمان أو دراسة استثمار واحدة بالطرق اليدوية</a:t>
            </a:r>
            <a:endParaRPr lang="ar-SA" sz="1050" dirty="0"/>
          </a:p>
        </p:txBody>
      </p:sp>
      <p:sp>
        <p:nvSpPr>
          <p:cNvPr id="10" name="Shape 7"/>
          <p:cNvSpPr/>
          <p:nvPr/>
        </p:nvSpPr>
        <p:spPr>
          <a:xfrm>
            <a:off x="6229807" y="1691640"/>
            <a:ext cx="2537460" cy="3063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71155" y="1929384"/>
            <a:ext cx="658368" cy="65836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2" name="Image 1" descr="assets/ic-file-stack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64" y="208739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12687" y="2770632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+345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6412687" y="3575304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</a:t>
            </a:r>
            <a:endParaRPr lang="ar-SA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12687" y="397764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نشرة الإصدار الواحدة تُقرأ وتُلخَّص يدويًا سطرًا بسطر دون استخراج آلي للمعلومات المهمة</a:t>
            </a:r>
            <a:endParaRPr lang="ar-SA" sz="1050" dirty="0"/>
          </a:p>
        </p:txBody>
      </p:sp>
      <p:sp>
        <p:nvSpPr>
          <p:cNvPr id="16" name="Shape 12"/>
          <p:cNvSpPr/>
          <p:nvPr/>
        </p:nvSpPr>
        <p:spPr>
          <a:xfrm>
            <a:off x="3418027" y="1691640"/>
            <a:ext cx="2537460" cy="3063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59375" y="1929384"/>
            <a:ext cx="658368" cy="65836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8" name="Image 2" descr="assets/ic-database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384" y="208739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00907" y="2770632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3600907" y="3575304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منفصلة</a:t>
            </a:r>
            <a:endParaRPr lang="ar-SA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3600907" y="397764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تداول، وثق، ساما، سوق العقار، الأخبار — كلٌّ في نظام منفصل يعمل عليه المحلل شبه يدويًا</a:t>
            </a:r>
            <a:endParaRPr lang="ar-SA" sz="1050" dirty="0"/>
          </a:p>
        </p:txBody>
      </p:sp>
      <p:sp>
        <p:nvSpPr>
          <p:cNvPr id="22" name="Shape 17"/>
          <p:cNvSpPr/>
          <p:nvPr/>
        </p:nvSpPr>
        <p:spPr>
          <a:xfrm>
            <a:off x="606247" y="1691640"/>
            <a:ext cx="2537460" cy="30632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247595" y="1929384"/>
            <a:ext cx="658368" cy="65836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24" name="Image 3" descr="assets/ic-recycle-0796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604" y="2087392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89127" y="2770632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3600" b="1" dirty="0">
                <a:solidFill>
                  <a:srgbClr val="07966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صفر</a:t>
            </a:r>
            <a:endParaRPr lang="ar-SA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789127" y="3575304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قابلية لإعادة الاستخدام</a:t>
            </a:r>
            <a:endParaRPr lang="ar-SA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89127" y="397764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الخبرة حبيسة أفراد، والتكلفة ترتفع مع كل تحليل ومشروع جديد</a:t>
            </a:r>
            <a:endParaRPr lang="ar-SA" sz="1050" dirty="0"/>
          </a:p>
        </p:txBody>
      </p:sp>
      <p:sp>
        <p:nvSpPr>
          <p:cNvPr id="28" name="Shape 22"/>
          <p:cNvSpPr/>
          <p:nvPr/>
        </p:nvSpPr>
        <p:spPr>
          <a:xfrm>
            <a:off x="612648" y="5120640"/>
            <a:ext cx="10966399" cy="777240"/>
          </a:xfrm>
          <a:prstGeom prst="roundRect">
            <a:avLst>
              <a:gd name="adj" fmla="val 14118"/>
            </a:avLst>
          </a:prstGeom>
          <a:solidFill>
            <a:srgbClr val="061F52"/>
          </a:solidFill>
          <a:ln/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978408" y="5120640"/>
            <a:ext cx="102348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65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النتيجة: قرارات أبطأ، وتكلفة أعلى، وفرص استثمارية تضيع كل يوم</a:t>
            </a:r>
            <a:endParaRPr lang="ar-SA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80000">
            <a:off x="-2926080" y="-2377440"/>
            <a:ext cx="10515600" cy="5669280"/>
          </a:xfrm>
          <a:prstGeom prst="rect">
            <a:avLst/>
          </a:prstGeom>
          <a:solidFill>
            <a:srgbClr val="1228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0880000">
            <a:off x="5120640" y="3108960"/>
            <a:ext cx="11430000" cy="6583680"/>
          </a:xfrm>
          <a:prstGeom prst="rect">
            <a:avLst/>
          </a:prstGeom>
          <a:solidFill>
            <a:srgbClr val="041437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78628" y="566928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0796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78628" y="56692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الحل</a:t>
            </a:r>
            <a:endParaRPr lang="ar-SA" sz="1500" dirty="0"/>
          </a:p>
        </p:txBody>
      </p:sp>
      <p:pic>
        <p:nvPicPr>
          <p:cNvPr id="6" name="Image 0" descr="assets/faheem-glyph-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1993" y="1371600"/>
            <a:ext cx="1387709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70248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3600" dirty="0">
                <a:solidFill>
                  <a:srgbClr val="FFFFFF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فهيم</a:t>
            </a:r>
            <a:endParaRPr lang="ar-SA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4270248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spc="400" kern="0" dirty="0">
                <a:solidFill>
                  <a:srgbClr val="5C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A H E E 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12648" y="4041648"/>
            <a:ext cx="10966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المحلل المالي الذكي: فريق أبحاث مالي متكامل يعمل بالذكاء الاصطناعي التوكيلي</a:t>
            </a:r>
            <a:endParaRPr lang="ar-SA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" y="4681728"/>
            <a:ext cx="10966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450" dirty="0">
                <a:solidFill>
                  <a:srgbClr val="CBD8EE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يقرأ آلاف الصفحات، يحلّل البيانات، ويكتب التقارير بالعربية والإنجليزية — في ساعات لا أسابيع</a:t>
            </a:r>
            <a:endParaRPr lang="ar-SA" sz="1450" dirty="0"/>
          </a:p>
        </p:txBody>
      </p:sp>
      <p:sp>
        <p:nvSpPr>
          <p:cNvPr id="11" name="Shape 8"/>
          <p:cNvSpPr/>
          <p:nvPr/>
        </p:nvSpPr>
        <p:spPr>
          <a:xfrm>
            <a:off x="8080096" y="553212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285C">
              <a:alpha val="75000"/>
            </a:srgbClr>
          </a:solidFill>
          <a:ln w="12700">
            <a:solidFill>
              <a:srgbClr val="07966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17256" y="5532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مصمَّم للأسواق السعودية والعالمية</a:t>
            </a:r>
            <a:endParaRPr lang="ar-SA" sz="1200" dirty="0"/>
          </a:p>
        </p:txBody>
      </p:sp>
      <p:sp>
        <p:nvSpPr>
          <p:cNvPr id="13" name="Shape 10"/>
          <p:cNvSpPr/>
          <p:nvPr/>
        </p:nvSpPr>
        <p:spPr>
          <a:xfrm>
            <a:off x="4404208" y="553212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285C">
              <a:alpha val="75000"/>
            </a:srgbClr>
          </a:solidFill>
          <a:ln w="12700">
            <a:solidFill>
              <a:srgbClr val="07966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41368" y="5532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متوافق مع معيار ساما للمصرفية المفتوحة</a:t>
            </a:r>
            <a:endParaRPr lang="ar-SA" sz="1200" dirty="0"/>
          </a:p>
        </p:txBody>
      </p:sp>
      <p:sp>
        <p:nvSpPr>
          <p:cNvPr id="15" name="Shape 12"/>
          <p:cNvSpPr/>
          <p:nvPr/>
        </p:nvSpPr>
        <p:spPr>
          <a:xfrm>
            <a:off x="728320" y="553212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285C">
              <a:alpha val="75000"/>
            </a:srgbClr>
          </a:solidFill>
          <a:ln w="12700">
            <a:solidFill>
              <a:srgbClr val="0796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5480" y="5532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مخرجات مرنة حسب كل شركة ومتطلباتها</a:t>
            </a:r>
            <a:endParaRPr lang="ar-SA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البيانات المستخدمة: عامة وخاصة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واجهات برمجية (APIs) أولًا — مفاتيح ذاتية الخدمة جاهزة، وهذه البداية فقط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8049463" y="153619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2663" y="172821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6" name="Image 0" descr="assets/ic-chart-candlestick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726" y="18642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50631" y="17556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أسعار السوق — سهمك (SAHMK)</a:t>
            </a:r>
            <a:endParaRPr lang="ar-SA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50631" y="240487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أسعار لحظية وتاريخية وقوائم مالية وتوزيعات لأكثر من 350 شركة مرخصة من تداول، مع بث لحظي عبر WebSocket وبيانات Twelve Data احتياطية</a:t>
            </a:r>
            <a:endParaRPr lang="ar-SA" sz="1000" dirty="0"/>
          </a:p>
        </p:txBody>
      </p:sp>
      <p:sp>
        <p:nvSpPr>
          <p:cNvPr id="9" name="Shape 6"/>
          <p:cNvSpPr/>
          <p:nvPr/>
        </p:nvSpPr>
        <p:spPr>
          <a:xfrm>
            <a:off x="4327855" y="153619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71055" y="172821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1" name="Image 1" descr="assets/ic-earth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118" y="186427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9023" y="17556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السجلات العالمية — بلومبرغ وبيتش بوك</a:t>
            </a:r>
            <a:endParaRPr lang="ar-SA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29023" y="240487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الأسواق العالمية بين يديك: تحليل سريع وبيانات متوافقة بسلاسة مع الذكاء الاصطناعي</a:t>
            </a:r>
            <a:endParaRPr lang="ar-SA" sz="1000" dirty="0"/>
          </a:p>
        </p:txBody>
      </p:sp>
      <p:sp>
        <p:nvSpPr>
          <p:cNvPr id="14" name="Shape 10"/>
          <p:cNvSpPr/>
          <p:nvPr/>
        </p:nvSpPr>
        <p:spPr>
          <a:xfrm>
            <a:off x="606247" y="153619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49447" y="172821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6" name="Image 2" descr="assets/ic-newspaper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10" y="186427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7415" y="17556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الأخبار والمعنويات — marketaux API</a:t>
            </a:r>
            <a:endParaRPr lang="ar-SA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07415" y="240487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أخبار موسومة بالكيانات السعودية: شركات تداول والمؤشر العام — لرصد معنويات السوق لحظة بلحظة</a:t>
            </a:r>
            <a:endParaRPr lang="ar-SA" sz="1000" dirty="0"/>
          </a:p>
        </p:txBody>
      </p:sp>
      <p:sp>
        <p:nvSpPr>
          <p:cNvPr id="19" name="Shape 14"/>
          <p:cNvSpPr/>
          <p:nvPr/>
        </p:nvSpPr>
        <p:spPr>
          <a:xfrm>
            <a:off x="8049463" y="354787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792663" y="373989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21" name="Image 3" descr="assets/ic-building-2-0796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726" y="387595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50631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العقار — منصة البيانات المفتوحة</a:t>
            </a:r>
            <a:endParaRPr lang="ar-SA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250631" y="441655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صفقات البورصة العقارية (وزارة العدل) وبيانات المبيعات التاريخية عبر od.data.gov.sa ومؤشرات REGA وبيانات GASTAT</a:t>
            </a:r>
            <a:endParaRPr lang="ar-SA" sz="1000" dirty="0"/>
          </a:p>
        </p:txBody>
      </p:sp>
      <p:sp>
        <p:nvSpPr>
          <p:cNvPr id="24" name="Shape 18"/>
          <p:cNvSpPr/>
          <p:nvPr/>
        </p:nvSpPr>
        <p:spPr>
          <a:xfrm>
            <a:off x="4327855" y="354787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71055" y="373989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26" name="Image 4" descr="assets/ic-folder-lock-07966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118" y="3875959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9023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غرف البيانات الخاصة — Data Rooms</a:t>
            </a:r>
            <a:endParaRPr lang="ar-SA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29023" y="441655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الشركات الخاصة تشارك بياناتها مع المستثمرين عبر غرف بيانات؛ نعمل على مفاتيح من Intralinks ومن Datasite</a:t>
            </a:r>
            <a:endParaRPr lang="ar-SA" sz="1000" dirty="0"/>
          </a:p>
        </p:txBody>
      </p:sp>
      <p:sp>
        <p:nvSpPr>
          <p:cNvPr id="29" name="Shape 22"/>
          <p:cNvSpPr/>
          <p:nvPr/>
        </p:nvSpPr>
        <p:spPr>
          <a:xfrm>
            <a:off x="606247" y="3547872"/>
            <a:ext cx="3529584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349447" y="373989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31" name="Image 5" descr="assets/ic-book-open-check-07966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510" y="3875959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7415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الإفصاحات الرسمية — مكتبة RAG</a:t>
            </a:r>
            <a:endParaRPr lang="ar-SA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07415" y="4416552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6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نشرات إصدار هيئة السوق المالية والتقارير السنوية للشركات المدرجة — نصوص ثنائية اللغة تتجاوز 300 صفحة</a:t>
            </a:r>
            <a:endParaRPr lang="ar-SA" sz="1000" dirty="0"/>
          </a:p>
        </p:txBody>
      </p:sp>
      <p:sp>
        <p:nvSpPr>
          <p:cNvPr id="34" name="Shape 26"/>
          <p:cNvSpPr/>
          <p:nvPr/>
        </p:nvSpPr>
        <p:spPr>
          <a:xfrm>
            <a:off x="612648" y="5650992"/>
            <a:ext cx="10966399" cy="713232"/>
          </a:xfrm>
          <a:prstGeom prst="roundRect">
            <a:avLst>
              <a:gd name="adj" fmla="val 12821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978408" y="5650992"/>
            <a:ext cx="102348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30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تكامل ومرونة في الربط مع جميع مصادر البيانات بأنواعها — فهيم يصل إلى المعلومة وإن كانت مدفونة في أعماق المستندات وقواعد البيانات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التقنيات المستخدمة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مكدس واحد متكامل — سرعة في التطوير وموثوقية يوم العرض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8049463" y="1691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9915" y="1970532"/>
            <a:ext cx="868680" cy="86868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6" name="Image 0" descr="assets/ic-app-window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398" y="2179015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78063" y="299008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المنصة</a:t>
            </a:r>
            <a:endParaRPr lang="ar-SA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78063" y="34472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TypeScript · Tailwind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23783" y="3849624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عربية/إنجليزية ثنائية الاتجاه (RTL) بهوية بصرية مملوكة بالكامل — كل بكسل مصمم لفهيم</a:t>
            </a:r>
            <a:endParaRPr lang="ar-SA" sz="1050" dirty="0"/>
          </a:p>
        </p:txBody>
      </p:sp>
      <p:sp>
        <p:nvSpPr>
          <p:cNvPr id="10" name="Shape 7"/>
          <p:cNvSpPr/>
          <p:nvPr/>
        </p:nvSpPr>
        <p:spPr>
          <a:xfrm>
            <a:off x="4327855" y="1691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58307" y="1970532"/>
            <a:ext cx="868680" cy="86868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2" name="Image 1" descr="assets/ic-brain-circuit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0" y="2179015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6455" y="299008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</a:t>
            </a:r>
            <a:endParaRPr lang="ar-SA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556455" y="34472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02175" y="3849624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وكلاء متخصصون بمسارات عمل محددة، استشهادات إلزامية مثبتة بالمصدر لكل رقم، وذاكرة سياق للمستندات الطويلة</a:t>
            </a:r>
            <a:endParaRPr lang="ar-SA" sz="1050" dirty="0"/>
          </a:p>
        </p:txBody>
      </p:sp>
      <p:sp>
        <p:nvSpPr>
          <p:cNvPr id="16" name="Shape 12"/>
          <p:cNvSpPr/>
          <p:nvPr/>
        </p:nvSpPr>
        <p:spPr>
          <a:xfrm>
            <a:off x="606247" y="169164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936699" y="1970532"/>
            <a:ext cx="868680" cy="86868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8" name="Image 2" descr="assets/ic-file-output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182" y="2179015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" y="299008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المستندات والمخرجات</a:t>
            </a:r>
            <a:endParaRPr lang="ar-SA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4847" y="34472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· Excel · PowerPoint · PDF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80567" y="3849624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توليد فوري للمذكرات والنماذج المالية والعروض من داخل المحادثة — قابلة للتنزيل والتحرير مباشرة</a:t>
            </a:r>
            <a:endParaRPr lang="ar-SA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12648" y="5074920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بيانات موثقة عبر مخططات تحقق صارمة (Zod) وسجل تدقيق كامل — لا رقم بلا مصدر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الفكرة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كيف يتميّز فهيم — وكيف يعمل في مثال تطبيقي</a:t>
            </a:r>
            <a:endParaRPr lang="ar-SA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321247" y="14630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يتميّز فهيم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6321247" y="196596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20095" y="232257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7" name="Image 0" descr="assets/ic-sparkles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6158" y="2458639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49847" y="21305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محلل خاص بالمؤسسة</a:t>
            </a:r>
            <a:endParaRPr lang="ar-SA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49847" y="247802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ذكاء أبحاث اصطناعي مملوك حصريًا للمؤسسة، مدرَّب على بياناتها الخاصة وتوجهاتها الاستثمارية ومعاييرها — يعمل تمامًا كمحلل داخلي</a:t>
            </a:r>
            <a:endParaRPr lang="ar-SA" sz="1000" dirty="0"/>
          </a:p>
        </p:txBody>
      </p:sp>
      <p:sp>
        <p:nvSpPr>
          <p:cNvPr id="10" name="Shape 7"/>
          <p:cNvSpPr/>
          <p:nvPr/>
        </p:nvSpPr>
        <p:spPr>
          <a:xfrm>
            <a:off x="6321247" y="338328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820095" y="373989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2" name="Image 1" descr="assets/ic-users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158" y="387595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49847" y="35478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وكلاء متخصصين</a:t>
            </a:r>
            <a:endParaRPr lang="ar-SA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49847" y="389534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وكلاء فرعيون لكل منهم مسار عمل محدد، مع وصول مباشر إلى بيانات المؤسسة وسياق الصفقات وقوالب المخرجات</a:t>
            </a:r>
            <a:endParaRPr lang="ar-SA" sz="1000" dirty="0"/>
          </a:p>
        </p:txBody>
      </p:sp>
      <p:sp>
        <p:nvSpPr>
          <p:cNvPr id="15" name="Shape 11"/>
          <p:cNvSpPr/>
          <p:nvPr/>
        </p:nvSpPr>
        <p:spPr>
          <a:xfrm>
            <a:off x="6321247" y="480060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820095" y="5157216"/>
            <a:ext cx="566928" cy="566928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7" name="Image 2" descr="assets/ic-database-zap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158" y="52932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49847" y="49651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متصل بالبيانات الحية</a:t>
            </a:r>
            <a:endParaRPr lang="ar-SA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549847" y="531266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غرف الصفقات والبيانات اللحظية ومنصات عالمية مثل بلومبرغ وبيتش بوك — بالإضافة إلى الاتصال الفعلي وقت التحليل</a:t>
            </a:r>
            <a:endParaRPr lang="ar-SA" sz="1000" dirty="0"/>
          </a:p>
        </p:txBody>
      </p:sp>
      <p:sp>
        <p:nvSpPr>
          <p:cNvPr id="20" name="Shape 15"/>
          <p:cNvSpPr/>
          <p:nvPr/>
        </p:nvSpPr>
        <p:spPr>
          <a:xfrm>
            <a:off x="612648" y="1463040"/>
            <a:ext cx="5394960" cy="4800600"/>
          </a:xfrm>
          <a:prstGeom prst="roundRect">
            <a:avLst>
              <a:gd name="adj" fmla="val 1714"/>
            </a:avLst>
          </a:prstGeom>
          <a:solidFill>
            <a:srgbClr val="F4F7FC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886968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يعمل فهيم: مثال تطبيقي — صفقة استثمار خاص</a:t>
            </a:r>
            <a:endParaRPr lang="ar-SA" sz="1450" dirty="0"/>
          </a:p>
        </p:txBody>
      </p:sp>
      <p:sp>
        <p:nvSpPr>
          <p:cNvPr id="22" name="Shape 17"/>
          <p:cNvSpPr/>
          <p:nvPr/>
        </p:nvSpPr>
        <p:spPr>
          <a:xfrm>
            <a:off x="5294376" y="2286000"/>
            <a:ext cx="438912" cy="438912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294376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86968" y="22677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566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الاستلام</a:t>
            </a:r>
            <a:endParaRPr lang="ar-SA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86968" y="261518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يُزوَّد فهيم بمستندات غرفة البيانات: مذكرة الطرح الخاص، اتفاقية الشراكة، استبيان العناية الواجبة، ومحاضر المكالمات المرجعية المحفوظة</a:t>
            </a:r>
            <a:endParaRPr lang="ar-SA" sz="1050" dirty="0"/>
          </a:p>
        </p:txBody>
      </p:sp>
      <p:sp>
        <p:nvSpPr>
          <p:cNvPr id="26" name="Shape 21"/>
          <p:cNvSpPr/>
          <p:nvPr/>
        </p:nvSpPr>
        <p:spPr>
          <a:xfrm>
            <a:off x="5294376" y="3657600"/>
            <a:ext cx="438912" cy="438912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5294376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86968" y="36393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566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العناية الواجبة</a:t>
            </a:r>
            <a:endParaRPr lang="ar-SA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886968" y="398678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يسحب البيانات الداعمة من الويب والمنصات المشتركة، يفحص الصندوق وفق معايير المؤسسة المُعدَّة مسبقًا، ويُبرز المخاطر والثغرات قبل المضي قدمًا</a:t>
            </a:r>
            <a:endParaRPr lang="ar-SA" sz="1050" dirty="0"/>
          </a:p>
        </p:txBody>
      </p:sp>
      <p:sp>
        <p:nvSpPr>
          <p:cNvPr id="30" name="Shape 25"/>
          <p:cNvSpPr/>
          <p:nvPr/>
        </p:nvSpPr>
        <p:spPr>
          <a:xfrm>
            <a:off x="5294376" y="5029200"/>
            <a:ext cx="438912" cy="438912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294376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886968" y="50109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00" b="1" dirty="0">
                <a:solidFill>
                  <a:srgbClr val="0566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المخرجات</a:t>
            </a:r>
            <a:endParaRPr lang="ar-SA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886968" y="535838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تُدقَّق جميع الأرقام مقابل مصادرها ويُفحص تضارب المصالح — فتتحول أيام من العناية اليدوية إلى مسودة أولى جاهزة للمراجعة في دقائق</a:t>
            </a:r>
            <a:endParaRPr lang="ar-SA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رحلة الطلب داخل فهيم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من سؤال المحلل إلى مخرجات موثقة جاهزة للتسليم — والإنسان يعتمد القرار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9640519" y="1389888"/>
            <a:ext cx="193852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81183" y="1472184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" name="Image 0" descr="assets/ic-user-round-061f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911" y="15819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13671" y="19385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طلب المحلل</a:t>
            </a:r>
            <a:endParaRPr lang="ar-SA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731959" y="2212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8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سؤال أو مهمة بلغة طبيعية</a:t>
            </a:r>
            <a:endParaRPr lang="ar-SA" sz="800" dirty="0"/>
          </a:p>
        </p:txBody>
      </p:sp>
      <p:sp>
        <p:nvSpPr>
          <p:cNvPr id="9" name="Text 6"/>
          <p:cNvSpPr txBox="1"/>
          <p:nvPr/>
        </p:nvSpPr>
        <p:spPr>
          <a:xfrm>
            <a:off x="9320479" y="17739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81951" y="1389888"/>
            <a:ext cx="193852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22615" y="1472184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" name="Image 1" descr="assets/ic-workflow-061f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343" y="158191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5103" y="19385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المنسّق / المخطّط</a:t>
            </a:r>
            <a:endParaRPr lang="ar-SA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473391" y="2212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8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يوزّع المهام على الوكلاء ويرتّبها</a:t>
            </a:r>
            <a:endParaRPr lang="ar-SA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7061911" y="17739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23383" y="1389888"/>
            <a:ext cx="193852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64047" y="1472184"/>
            <a:ext cx="457200" cy="45720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8" name="Image 2" descr="assets/ic-shield-check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775" y="158191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96535" y="19385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التحقق والامتثال</a:t>
            </a:r>
            <a:endParaRPr lang="ar-SA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214823" y="2212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8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شريعة · مصادر · عقوبات · درجات ثقة</a:t>
            </a:r>
            <a:endParaRPr lang="ar-SA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4803343" y="17739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2864815" y="1389888"/>
            <a:ext cx="193852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05479" y="1472184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4" name="Image 3" descr="assets/ic-user-check-061f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207" y="158191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937967" y="19385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مراجعة بشرية</a:t>
            </a:r>
            <a:endParaRPr lang="ar-SA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2956255" y="2212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8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اعتماد — أو إعادة توجيه بتعليمات جديدة</a:t>
            </a:r>
            <a:endParaRPr lang="ar-SA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2544775" y="17739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606247" y="1389888"/>
            <a:ext cx="193852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346911" y="1472184"/>
            <a:ext cx="457200" cy="45720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30" name="Image 4" descr="assets/ic-package-check-07966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639" y="158191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79399" y="19385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التسليم النهائي</a:t>
            </a:r>
            <a:endParaRPr lang="ar-SA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97687" y="2212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8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مذكرة · نموذج · عرض — موثق بالمصادر</a:t>
            </a:r>
            <a:endParaRPr lang="ar-SA" sz="800" dirty="0"/>
          </a:p>
        </p:txBody>
      </p:sp>
      <p:sp>
        <p:nvSpPr>
          <p:cNvPr id="33" name="Shape 26"/>
          <p:cNvSpPr/>
          <p:nvPr/>
        </p:nvSpPr>
        <p:spPr>
          <a:xfrm>
            <a:off x="612648" y="2871216"/>
            <a:ext cx="10966399" cy="1755648"/>
          </a:xfrm>
          <a:prstGeom prst="roundRect">
            <a:avLst>
              <a:gd name="adj" fmla="val 4688"/>
            </a:avLst>
          </a:prstGeom>
          <a:solidFill>
            <a:srgbClr val="F4F7FC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32688" y="2999232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50" dirty="0">
                <a:solidFill>
                  <a:srgbClr val="061F52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وكلاء متخصصون يعملون بالتوازي</a:t>
            </a:r>
            <a:endParaRPr lang="ar-SA" sz="1250" dirty="0"/>
          </a:p>
        </p:txBody>
      </p:sp>
      <p:sp>
        <p:nvSpPr>
          <p:cNvPr id="35" name="Shape 28"/>
          <p:cNvSpPr/>
          <p:nvPr/>
        </p:nvSpPr>
        <p:spPr>
          <a:xfrm>
            <a:off x="8012887" y="3383280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36" name="Image 5" descr="assets/ic-search-061f5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5815" y="3511296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195767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البحث والمصادر</a:t>
            </a:r>
            <a:endParaRPr lang="ar-SA" sz="1150" dirty="0"/>
          </a:p>
        </p:txBody>
      </p:sp>
      <p:sp>
        <p:nvSpPr>
          <p:cNvPr id="38" name="Shape 30"/>
          <p:cNvSpPr/>
          <p:nvPr/>
        </p:nvSpPr>
        <p:spPr>
          <a:xfrm>
            <a:off x="4446727" y="3383280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39" name="Image 6" descr="assets/ic-calculator-061f5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9655" y="3511296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629607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النمذجة والتقييم</a:t>
            </a:r>
            <a:endParaRPr lang="ar-SA" sz="1150" dirty="0"/>
          </a:p>
        </p:txBody>
      </p:sp>
      <p:sp>
        <p:nvSpPr>
          <p:cNvPr id="41" name="Shape 32"/>
          <p:cNvSpPr/>
          <p:nvPr/>
        </p:nvSpPr>
        <p:spPr>
          <a:xfrm>
            <a:off x="880567" y="3383280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42" name="Image 7" descr="assets/ic-scale-061f5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495" y="3511296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63447" y="3383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المقارنات والسوابق</a:t>
            </a:r>
            <a:endParaRPr lang="ar-SA" sz="1150" dirty="0"/>
          </a:p>
        </p:txBody>
      </p:sp>
      <p:sp>
        <p:nvSpPr>
          <p:cNvPr id="44" name="Shape 34"/>
          <p:cNvSpPr/>
          <p:nvPr/>
        </p:nvSpPr>
        <p:spPr>
          <a:xfrm>
            <a:off x="8012887" y="4041648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45" name="Image 8" descr="assets/ic-pen-line-061f5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5815" y="4169664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195767" y="40416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كتابة التقارير</a:t>
            </a:r>
            <a:endParaRPr lang="ar-SA" sz="1150" dirty="0"/>
          </a:p>
        </p:txBody>
      </p:sp>
      <p:sp>
        <p:nvSpPr>
          <p:cNvPr id="47" name="Shape 36"/>
          <p:cNvSpPr/>
          <p:nvPr/>
        </p:nvSpPr>
        <p:spPr>
          <a:xfrm>
            <a:off x="4446727" y="4041648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48" name="Image 9" descr="assets/ic-bell-ring-061f5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9655" y="4169664"/>
            <a:ext cx="256032" cy="25603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4629607" y="40416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المراقبة والمحافظ</a:t>
            </a:r>
            <a:endParaRPr lang="ar-SA" sz="1150" dirty="0"/>
          </a:p>
        </p:txBody>
      </p:sp>
      <p:sp>
        <p:nvSpPr>
          <p:cNvPr id="50" name="Shape 38"/>
          <p:cNvSpPr/>
          <p:nvPr/>
        </p:nvSpPr>
        <p:spPr>
          <a:xfrm>
            <a:off x="880567" y="4041648"/>
            <a:ext cx="32918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</p:spPr>
      </p:sp>
      <p:pic>
        <p:nvPicPr>
          <p:cNvPr id="51" name="Image 10" descr="assets/ic-file-search-061f5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495" y="4169664"/>
            <a:ext cx="256032" cy="25603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1063447" y="404164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101D3A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ذكاء المستندات</a:t>
            </a:r>
            <a:endParaRPr lang="ar-SA" sz="1150" dirty="0"/>
          </a:p>
        </p:txBody>
      </p:sp>
      <p:sp>
        <p:nvSpPr>
          <p:cNvPr id="53" name="Shape 40"/>
          <p:cNvSpPr/>
          <p:nvPr/>
        </p:nvSpPr>
        <p:spPr>
          <a:xfrm>
            <a:off x="8351215" y="2542032"/>
            <a:ext cx="0" cy="329184"/>
          </a:xfrm>
          <a:prstGeom prst="line">
            <a:avLst/>
          </a:prstGeom>
          <a:noFill/>
          <a:ln w="15875">
            <a:solidFill>
              <a:srgbClr val="4A66A3"/>
            </a:solidFill>
            <a:prstDash val="dash"/>
          </a:ln>
        </p:spPr>
      </p:sp>
      <p:sp>
        <p:nvSpPr>
          <p:cNvPr id="54" name="Shape 41"/>
          <p:cNvSpPr/>
          <p:nvPr/>
        </p:nvSpPr>
        <p:spPr>
          <a:xfrm>
            <a:off x="6092647" y="2542032"/>
            <a:ext cx="0" cy="329184"/>
          </a:xfrm>
          <a:prstGeom prst="line">
            <a:avLst/>
          </a:prstGeom>
          <a:noFill/>
          <a:ln w="15875">
            <a:solidFill>
              <a:srgbClr val="4A66A3"/>
            </a:solidFill>
            <a:prstDash val="dash"/>
          </a:ln>
        </p:spPr>
      </p:sp>
      <p:sp>
        <p:nvSpPr>
          <p:cNvPr id="55" name="Shape 42"/>
          <p:cNvSpPr/>
          <p:nvPr/>
        </p:nvSpPr>
        <p:spPr>
          <a:xfrm>
            <a:off x="612648" y="4846320"/>
            <a:ext cx="10966399" cy="932688"/>
          </a:xfrm>
          <a:prstGeom prst="roundRect">
            <a:avLst>
              <a:gd name="adj" fmla="val 8824"/>
            </a:avLst>
          </a:prstGeom>
          <a:solidFill>
            <a:srgbClr val="061F52"/>
          </a:solidFill>
          <a:ln/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6" name="Text 43"/>
          <p:cNvSpPr txBox="1"/>
          <p:nvPr/>
        </p:nvSpPr>
        <p:spPr>
          <a:xfrm>
            <a:off x="932688" y="4937760"/>
            <a:ext cx="10326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5CC9A8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بنية تحتية مشتركة</a:t>
            </a:r>
            <a:endParaRPr lang="ar-SA" sz="1150" dirty="0"/>
          </a:p>
        </p:txBody>
      </p:sp>
      <p:sp>
        <p:nvSpPr>
          <p:cNvPr id="57" name="Text 44"/>
          <p:cNvSpPr txBox="1"/>
          <p:nvPr/>
        </p:nvSpPr>
        <p:spPr>
          <a:xfrm>
            <a:off x="7830007" y="5257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050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الموصلات: تداول · بلومبرغ · CapIQ · غرف البيانات</a:t>
            </a:r>
            <a:endParaRPr lang="ar-SA" sz="1050" dirty="0"/>
          </a:p>
        </p:txBody>
      </p:sp>
      <p:sp>
        <p:nvSpPr>
          <p:cNvPr id="58" name="Text 45"/>
          <p:cNvSpPr txBox="1"/>
          <p:nvPr/>
        </p:nvSpPr>
        <p:spPr>
          <a:xfrm>
            <a:off x="4309567" y="5257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050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الذاكرة والمعرفة: تاريخ الشركات وسياق الصفقات</a:t>
            </a:r>
            <a:endParaRPr lang="ar-SA" sz="1050" dirty="0"/>
          </a:p>
        </p:txBody>
      </p:sp>
      <p:sp>
        <p:nvSpPr>
          <p:cNvPr id="59" name="Text 46"/>
          <p:cNvSpPr txBox="1"/>
          <p:nvPr/>
        </p:nvSpPr>
        <p:spPr>
          <a:xfrm>
            <a:off x="789127" y="5257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050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الصلاحيات والتدقيق: حواجز معلومات وسجل كامل</a:t>
            </a:r>
            <a:endParaRPr lang="ar-SA" sz="1050" dirty="0"/>
          </a:p>
        </p:txBody>
      </p:sp>
      <p:sp>
        <p:nvSpPr>
          <p:cNvPr id="60" name="Text 47"/>
          <p:cNvSpPr txBox="1"/>
          <p:nvPr/>
        </p:nvSpPr>
        <p:spPr>
          <a:xfrm>
            <a:off x="612648" y="598932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05664D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كل خطوة تُسجَّل في سجل التدقيق — وكل رقم يُنسب إلى مصدره وصفحته</a:t>
            </a:r>
            <a:endParaRPr lang="ar-SA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كيفية توفير هذه البيانات وكيفية استخدامها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بياناتنا تمر برحلة تدقيق لضمان أفضل النتائج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9018727" y="1737360"/>
            <a:ext cx="2560320" cy="30632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87407" y="2011680"/>
            <a:ext cx="822960" cy="822960"/>
          </a:xfrm>
          <a:prstGeom prst="ellipse">
            <a:avLst/>
          </a:prstGeom>
          <a:solidFill>
            <a:srgbClr val="061F52"/>
          </a:solidFill>
          <a:ln/>
        </p:spPr>
      </p:sp>
      <p:pic>
        <p:nvPicPr>
          <p:cNvPr id="6" name="Image 0" descr="assets/ic-cloud-downloa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918" y="22091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030407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9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201607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الجمع</a:t>
            </a:r>
            <a:endParaRPr lang="ar-SA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247327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مفاتيح API ذاتية الخدمة (سهمك، وثق، أخبار)، تنزيل مباشر للنشرات والتقارير، ومصادر خاصة كمنصات الشركات السحابية وغرف البيانات</a:t>
            </a:r>
            <a:endParaRPr lang="ar-SA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771839" y="30175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11519" y="1737360"/>
            <a:ext cx="2560320" cy="30632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80199" y="2011680"/>
            <a:ext cx="822960" cy="822960"/>
          </a:xfrm>
          <a:prstGeom prst="ellipse">
            <a:avLst/>
          </a:prstGeom>
          <a:solidFill>
            <a:srgbClr val="061F52"/>
          </a:solidFill>
          <a:ln/>
        </p:spPr>
      </p:sp>
      <p:pic>
        <p:nvPicPr>
          <p:cNvPr id="13" name="Image 1" descr="assets/ic-filter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710" y="22091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23199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9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94399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المعالجة</a:t>
            </a:r>
            <a:endParaRPr lang="ar-SA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440119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تنظيف وحذف التكرار، تقطيع ذكي للمستندات مع تلخيصها، وتضمينات (Embeddings) في قاعدة متجهات كمصدر لمنظومة RAG</a:t>
            </a:r>
            <a:endParaRPr lang="ar-SA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964631" y="30175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404311" y="1737360"/>
            <a:ext cx="2560320" cy="30632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72991" y="2011680"/>
            <a:ext cx="822960" cy="822960"/>
          </a:xfrm>
          <a:prstGeom prst="ellipse">
            <a:avLst/>
          </a:prstGeom>
          <a:solidFill>
            <a:srgbClr val="061F52"/>
          </a:solidFill>
          <a:ln/>
        </p:spPr>
      </p:sp>
      <p:pic>
        <p:nvPicPr>
          <p:cNvPr id="20" name="Image 2" descr="assets/ic-cpu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502" y="22091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15991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9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587191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التحليل</a:t>
            </a:r>
            <a:endParaRPr lang="ar-SA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3632911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الوكلاء يستدعون الأدوات، يقارنون النتائج من مصادر متعددة، ويحسبون درجات الثقة لكل استنتاج</a:t>
            </a:r>
            <a:endParaRPr lang="ar-SA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3157423" y="301752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9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97103" y="1737360"/>
            <a:ext cx="2560320" cy="30632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465783" y="2011680"/>
            <a:ext cx="822960" cy="822960"/>
          </a:xfrm>
          <a:prstGeom prst="ellipse">
            <a:avLst/>
          </a:prstGeom>
          <a:solidFill>
            <a:srgbClr val="061F52"/>
          </a:solidFill>
          <a:ln/>
        </p:spPr>
      </p:sp>
      <p:pic>
        <p:nvPicPr>
          <p:cNvPr id="27" name="Image 3" descr="assets/ic-send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294" y="2209190"/>
            <a:ext cx="427939" cy="42793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08783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59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79983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التسليم</a:t>
            </a:r>
            <a:endParaRPr lang="ar-SA" sz="1550" dirty="0"/>
          </a:p>
        </p:txBody>
      </p:sp>
      <p:sp>
        <p:nvSpPr>
          <p:cNvPr id="30" name="Text 24"/>
          <p:cNvSpPr txBox="1"/>
          <p:nvPr/>
        </p:nvSpPr>
        <p:spPr>
          <a:xfrm>
            <a:off x="825703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ar-SA" altLang="en-US" sz="100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إجابات موثقة بالمصادر، ومذكرات ائتمان وتقارير استثمارية بقوالب جاهزة حسب كل شركة وشروطها</a:t>
            </a:r>
            <a:endParaRPr lang="ar-SA" sz="1000" dirty="0"/>
          </a:p>
        </p:txBody>
      </p:sp>
      <p:sp>
        <p:nvSpPr>
          <p:cNvPr id="31" name="Shape 25"/>
          <p:cNvSpPr/>
          <p:nvPr/>
        </p:nvSpPr>
        <p:spPr>
          <a:xfrm>
            <a:off x="612648" y="5120640"/>
            <a:ext cx="10966399" cy="713232"/>
          </a:xfrm>
          <a:prstGeom prst="roundRect">
            <a:avLst>
              <a:gd name="adj" fmla="val 12821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78408" y="5120640"/>
            <a:ext cx="102348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البيانات هي ركيزة فهيم — التدقيق والتحضير عبر مسارات معالجة آلية لبنة أساسية للنجاح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مواءمة الفكرة: في قلب المسار وقلب القطاع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مسار الذكاء الاصطناعي التوليدي للتقنية المالية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6229807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pic>
        <p:nvPicPr>
          <p:cNvPr id="5" name="Image 0" descr="assets/ic-badge-check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1965960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04127" y="19842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تطابق حرفي مع وصف المسار</a:t>
            </a:r>
            <a:endParaRPr lang="ar-SA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504127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فهيم يقدّم خدمات مالية حديثة في منصة واحدة، في صميم مجال الذكاء الاصطناعي التوكيلي الحديث</a:t>
            </a:r>
            <a:endParaRPr lang="ar-SA" sz="1150" dirty="0"/>
          </a:p>
        </p:txBody>
      </p:sp>
      <p:sp>
        <p:nvSpPr>
          <p:cNvPr id="8" name="Shape 5"/>
          <p:cNvSpPr/>
          <p:nvPr/>
        </p:nvSpPr>
        <p:spPr>
          <a:xfrm>
            <a:off x="606247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pic>
        <p:nvPicPr>
          <p:cNvPr id="9" name="Image 1" descr="assets/ic-badge-check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687" y="19659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0567" y="19842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مبني على معايير الهاكاثون</a:t>
            </a:r>
            <a:endParaRPr lang="ar-SA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80567" y="271576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تحليل بيانات من مصادر متعددة ووطنية، تطبيق تقني توكيلي متقدم، تجربة مستخدم عربية، وقابلية تنفيذ فورية</a:t>
            </a:r>
            <a:endParaRPr lang="ar-SA" sz="1150" dirty="0"/>
          </a:p>
        </p:txBody>
      </p:sp>
      <p:sp>
        <p:nvSpPr>
          <p:cNvPr id="12" name="Shape 8"/>
          <p:cNvSpPr/>
          <p:nvPr/>
        </p:nvSpPr>
        <p:spPr>
          <a:xfrm>
            <a:off x="6229807" y="4069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pic>
        <p:nvPicPr>
          <p:cNvPr id="13" name="Image 2" descr="assets/ic-badge-check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34340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04127" y="43616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رؤية 2030 والمصرفية المفتوحة</a:t>
            </a:r>
            <a:endParaRPr lang="ar-SA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6504127" y="509320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ساما حوّلت المصرفية المفتوحة إلى نظام ترخيص رسمي — ونموذج بياناتنا مبني على معيارها من اليوم الأول</a:t>
            </a:r>
            <a:endParaRPr lang="ar-SA" sz="1150" dirty="0"/>
          </a:p>
        </p:txBody>
      </p:sp>
      <p:sp>
        <p:nvSpPr>
          <p:cNvPr id="16" name="Shape 11"/>
          <p:cNvSpPr/>
          <p:nvPr/>
        </p:nvSpPr>
        <p:spPr>
          <a:xfrm>
            <a:off x="606247" y="40690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pic>
        <p:nvPicPr>
          <p:cNvPr id="17" name="Image 3" descr="assets/ic-badge-check-0796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687" y="434340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0567" y="43616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4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قيمة مباشرة للقطاع المصرفي والاستثماري</a:t>
            </a:r>
            <a:endParaRPr lang="ar-SA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80567" y="509320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1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أتمتة عمليات الاستثمار بشكل شبه فوري لزيادة الشفافية — ووداعًا لتضييع أسابيع البحث من أجل قرار مالي واحد</a:t>
            </a:r>
            <a:endParaRPr lang="ar-SA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الملخص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لمحة شاملة عن المشروع: أهدافه، مخرجاته، وأهم النتائج التي تم الوصول إليها</a:t>
            </a:r>
            <a:endParaRPr lang="ar-SA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7007047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الهدف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07047" y="221284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منح كل بنك ووجهة استثمار فريقَ أبحاث ماليًا كاملًا يعمل بالذكاء الاصطناعي التوكيلي — يوحّد مصادر عامة وخاصة عبر واجهات برمجية وقواعد بيانات ومنصات رقمية مختلفة، ويحوّل أسابيع التحليل والمذكرات إلى ساعات قليلة</a:t>
            </a:r>
            <a:endParaRPr lang="ar-SA" sz="1250" dirty="0"/>
          </a:p>
        </p:txBody>
      </p:sp>
      <p:sp>
        <p:nvSpPr>
          <p:cNvPr id="6" name="Shape 4"/>
          <p:cNvSpPr/>
          <p:nvPr/>
        </p:nvSpPr>
        <p:spPr>
          <a:xfrm>
            <a:off x="9430207" y="40690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pic>
        <p:nvPicPr>
          <p:cNvPr id="7" name="Image 0" descr="assets/ic-timer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3559" y="41970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13087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ساعات بدل أسابيع</a:t>
            </a:r>
            <a:endParaRPr lang="ar-SA" sz="1150" dirty="0"/>
          </a:p>
        </p:txBody>
      </p:sp>
      <p:sp>
        <p:nvSpPr>
          <p:cNvPr id="9" name="Shape 6"/>
          <p:cNvSpPr/>
          <p:nvPr/>
        </p:nvSpPr>
        <p:spPr>
          <a:xfrm>
            <a:off x="7007047" y="40690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pic>
        <p:nvPicPr>
          <p:cNvPr id="10" name="Image 1" descr="assets/ic-layout-dashboard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399" y="41970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89927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مصادر بيانات متنوعة</a:t>
            </a:r>
            <a:endParaRPr lang="ar-SA" sz="1150" dirty="0"/>
          </a:p>
        </p:txBody>
      </p:sp>
      <p:sp>
        <p:nvSpPr>
          <p:cNvPr id="12" name="Shape 8"/>
          <p:cNvSpPr/>
          <p:nvPr/>
        </p:nvSpPr>
        <p:spPr>
          <a:xfrm>
            <a:off x="9430207" y="4818888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pic>
        <p:nvPicPr>
          <p:cNvPr id="13" name="Image 2" descr="assets/ic-badge-check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559" y="49469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13087" y="4818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لا رقم بلا مصدر</a:t>
            </a:r>
            <a:endParaRPr lang="ar-SA" sz="1150" dirty="0"/>
          </a:p>
        </p:txBody>
      </p:sp>
      <p:sp>
        <p:nvSpPr>
          <p:cNvPr id="15" name="Shape 10"/>
          <p:cNvSpPr/>
          <p:nvPr/>
        </p:nvSpPr>
        <p:spPr>
          <a:xfrm>
            <a:off x="7007047" y="4818888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E6F7F1"/>
          </a:solidFill>
          <a:ln w="9525">
            <a:solidFill>
              <a:srgbClr val="99DFC8"/>
            </a:solidFill>
            <a:prstDash val="solid"/>
          </a:ln>
        </p:spPr>
      </p:sp>
      <p:pic>
        <p:nvPicPr>
          <p:cNvPr id="16" name="Image 3" descr="assets/ic-shield-check-07966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399" y="494690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89927" y="4818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1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سجل تدقيق كامل</a:t>
            </a:r>
            <a:endParaRPr lang="ar-SA" sz="1150" dirty="0"/>
          </a:p>
        </p:txBody>
      </p:sp>
      <p:sp>
        <p:nvSpPr>
          <p:cNvPr id="18" name="Shape 12"/>
          <p:cNvSpPr/>
          <p:nvPr/>
        </p:nvSpPr>
        <p:spPr>
          <a:xfrm>
            <a:off x="612648" y="1554480"/>
            <a:ext cx="60350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047488" y="173736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E8EEF8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047488" y="17373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061F52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المخرجات</a:t>
            </a:r>
            <a:endParaRPr lang="ar-SA" sz="1200" dirty="0"/>
          </a:p>
        </p:txBody>
      </p:sp>
      <p:sp>
        <p:nvSpPr>
          <p:cNvPr id="21" name="Shape 15"/>
          <p:cNvSpPr/>
          <p:nvPr/>
        </p:nvSpPr>
        <p:spPr>
          <a:xfrm>
            <a:off x="6263640" y="2340864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41248" y="223113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مساعد محادثة يجيب بمصادر موثقة عن تداول والشركات والعقار والاقتصاد</a:t>
            </a:r>
            <a:endParaRPr lang="ar-SA" sz="1050" dirty="0"/>
          </a:p>
        </p:txBody>
      </p:sp>
      <p:sp>
        <p:nvSpPr>
          <p:cNvPr id="23" name="Shape 17"/>
          <p:cNvSpPr/>
          <p:nvPr/>
        </p:nvSpPr>
        <p:spPr>
          <a:xfrm>
            <a:off x="6263640" y="2761488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41248" y="26517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مذكرات ائتمان وتقارير استثمارية بقوالب مؤسستك (Word، PowerPoint، Excel)</a:t>
            </a:r>
            <a:endParaRPr lang="ar-SA" sz="1050" dirty="0"/>
          </a:p>
        </p:txBody>
      </p:sp>
      <p:sp>
        <p:nvSpPr>
          <p:cNvPr id="25" name="Shape 19"/>
          <p:cNvSpPr/>
          <p:nvPr/>
        </p:nvSpPr>
        <p:spPr>
          <a:xfrm>
            <a:off x="6263640" y="3182112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41248" y="307238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متكامل بقوائم مراجعة تلقائية وسجل تدقيق كامل</a:t>
            </a:r>
            <a:endParaRPr lang="ar-SA" sz="1050" dirty="0"/>
          </a:p>
        </p:txBody>
      </p:sp>
      <p:sp>
        <p:nvSpPr>
          <p:cNvPr id="27" name="Shape 21"/>
          <p:cNvSpPr/>
          <p:nvPr/>
        </p:nvSpPr>
        <p:spPr>
          <a:xfrm>
            <a:off x="612648" y="3749040"/>
            <a:ext cx="6035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61688" y="3913632"/>
            <a:ext cx="2103120" cy="402336"/>
          </a:xfrm>
          <a:prstGeom prst="roundRect">
            <a:avLst>
              <a:gd name="adj" fmla="val 20455"/>
            </a:avLst>
          </a:prstGeom>
          <a:solidFill>
            <a:srgbClr val="E6F7F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361688" y="39136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20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أهم النتائج حتى الآن</a:t>
            </a:r>
            <a:endParaRPr lang="ar-SA" sz="1200" dirty="0"/>
          </a:p>
        </p:txBody>
      </p:sp>
      <p:sp>
        <p:nvSpPr>
          <p:cNvPr id="30" name="Shape 24"/>
          <p:cNvSpPr/>
          <p:nvPr/>
        </p:nvSpPr>
        <p:spPr>
          <a:xfrm>
            <a:off x="6263640" y="4517136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41248" y="44074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منصة عاملة بواجهة عربية/إنجليزية: محادثة موثقة، ووكلاء متخصصون، ومخرجات جاهزة للتنزيل</a:t>
            </a:r>
            <a:endParaRPr lang="ar-SA" sz="1050" dirty="0"/>
          </a:p>
        </p:txBody>
      </p:sp>
      <p:sp>
        <p:nvSpPr>
          <p:cNvPr id="32" name="Shape 26"/>
          <p:cNvSpPr/>
          <p:nvPr/>
        </p:nvSpPr>
        <p:spPr>
          <a:xfrm>
            <a:off x="6263640" y="4992624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41248" y="488289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أرقام حقيقية مدققة من إفصاحات شركة جاهز — كل رقم يُنسب إلى مصدره وصفحته</a:t>
            </a:r>
            <a:endParaRPr lang="ar-SA" sz="1050" dirty="0"/>
          </a:p>
        </p:txBody>
      </p:sp>
      <p:sp>
        <p:nvSpPr>
          <p:cNvPr id="34" name="Shape 28"/>
          <p:cNvSpPr/>
          <p:nvPr/>
        </p:nvSpPr>
        <p:spPr>
          <a:xfrm>
            <a:off x="612648" y="5760720"/>
            <a:ext cx="10966399" cy="777240"/>
          </a:xfrm>
          <a:prstGeom prst="roundRect">
            <a:avLst>
              <a:gd name="adj" fmla="val 14118"/>
            </a:avLst>
          </a:prstGeom>
          <a:solidFill>
            <a:srgbClr val="061F52"/>
          </a:solidFill>
          <a:ln/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978408" y="5760720"/>
            <a:ext cx="102348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55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نحن لا نبني روبوت محادثة! نحن نبني البنية المعرفية للقطاع المالي السعودي بالذكاء الاصطناعي التوكيلي</a:t>
            </a:r>
            <a:endParaRPr lang="ar-SA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الاختبار والتحقق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بنينا النموذج الأولي لنظام فهيم وشغّلناه بنجاح من خلال واجهة المستخدم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612648" y="1600200"/>
            <a:ext cx="10966399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10367" y="1810512"/>
            <a:ext cx="603504" cy="603504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6" name="Image 0" descr="assets/ic-network-0796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208" y="1955353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6968" y="1737360"/>
            <a:ext cx="9731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بنية النظام متعدد الوكلاء</a:t>
            </a:r>
            <a:endParaRPr lang="ar-SA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075688"/>
            <a:ext cx="97319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7 فرق متخصصة (البحث والمصادر، ذكاء المستندات، النمذجة والتقييم، المقارنات والسوابق، كتابة التقارير، المراقبة والمحافظ، التحقق والامتثال) تضم أكثر من 20 وكيلًا ذكيًا</a:t>
            </a:r>
            <a:endParaRPr lang="ar-SA" sz="1050" dirty="0"/>
          </a:p>
        </p:txBody>
      </p:sp>
      <p:sp>
        <p:nvSpPr>
          <p:cNvPr id="9" name="Shape 6"/>
          <p:cNvSpPr/>
          <p:nvPr/>
        </p:nvSpPr>
        <p:spPr>
          <a:xfrm>
            <a:off x="612648" y="2770632"/>
            <a:ext cx="10966399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10367" y="2980944"/>
            <a:ext cx="603504" cy="603504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1" name="Image 1" descr="assets/ic-git-branch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208" y="312578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6968" y="2907792"/>
            <a:ext cx="9731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تدفق العمل (Graph)</a:t>
            </a:r>
            <a:endParaRPr lang="ar-SA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86968" y="3246120"/>
            <a:ext cx="97319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اختبار المخطط المرحلي بنجاح: بحث ثم تحليل مستندات بالتوازي، فالنمذجة والمقارنات، فكتابة التقارير، فالتحقق من الامتثال، وأخيرًا المراجعة البشرية</a:t>
            </a:r>
            <a:endParaRPr lang="ar-SA" sz="1050" dirty="0"/>
          </a:p>
        </p:txBody>
      </p:sp>
      <p:sp>
        <p:nvSpPr>
          <p:cNvPr id="14" name="Shape 10"/>
          <p:cNvSpPr/>
          <p:nvPr/>
        </p:nvSpPr>
        <p:spPr>
          <a:xfrm>
            <a:off x="612648" y="3941064"/>
            <a:ext cx="10966399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10367" y="4151376"/>
            <a:ext cx="603504" cy="603504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6" name="Image 2" descr="assets/ic-scan-search-0796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208" y="429621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" y="4078224"/>
            <a:ext cx="9731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واجهات برمجة التطبيقات</a:t>
            </a:r>
            <a:endParaRPr lang="ar-SA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86968" y="4416552"/>
            <a:ext cx="97319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اختبار واجهات API المطوَّرة واستلام النتائج من الوكلاء عبر واجهة المستخدم</a:t>
            </a:r>
            <a:endParaRPr lang="ar-SA" sz="1050" dirty="0"/>
          </a:p>
        </p:txBody>
      </p:sp>
      <p:sp>
        <p:nvSpPr>
          <p:cNvPr id="19" name="Shape 14"/>
          <p:cNvSpPr/>
          <p:nvPr/>
        </p:nvSpPr>
        <p:spPr>
          <a:xfrm>
            <a:off x="612648" y="5212080"/>
            <a:ext cx="10966399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475927" y="5376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نسبة الإنجاز</a:t>
            </a:r>
            <a:endParaRPr lang="ar-SA" sz="1350" dirty="0"/>
          </a:p>
        </p:txBody>
      </p:sp>
      <p:sp>
        <p:nvSpPr>
          <p:cNvPr id="21" name="Shape 16"/>
          <p:cNvSpPr/>
          <p:nvPr/>
        </p:nvSpPr>
        <p:spPr>
          <a:xfrm>
            <a:off x="932688" y="5779008"/>
            <a:ext cx="8223199" cy="384048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</p:sp>
      <p:sp>
        <p:nvSpPr>
          <p:cNvPr id="22" name="Shape 17"/>
          <p:cNvSpPr/>
          <p:nvPr/>
        </p:nvSpPr>
        <p:spPr>
          <a:xfrm>
            <a:off x="3399648" y="5779008"/>
            <a:ext cx="3289280" cy="384048"/>
          </a:xfrm>
          <a:prstGeom prst="roundRect">
            <a:avLst>
              <a:gd name="adj" fmla="val 50000"/>
            </a:avLst>
          </a:prstGeom>
          <a:solidFill>
            <a:srgbClr val="99DFC8"/>
          </a:solidFill>
          <a:ln/>
        </p:spPr>
      </p:sp>
      <p:sp>
        <p:nvSpPr>
          <p:cNvPr id="23" name="Shape 18"/>
          <p:cNvSpPr/>
          <p:nvPr/>
        </p:nvSpPr>
        <p:spPr>
          <a:xfrm>
            <a:off x="6688927" y="5779008"/>
            <a:ext cx="2466960" cy="384048"/>
          </a:xfrm>
          <a:prstGeom prst="roundRect">
            <a:avLst>
              <a:gd name="adj" fmla="val 50000"/>
            </a:avLst>
          </a:prstGeom>
          <a:solidFill>
            <a:srgbClr val="07966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88927" y="5779008"/>
            <a:ext cx="24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FFFFF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اليوم: 30%</a:t>
            </a:r>
            <a:endParaRPr lang="ar-SA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3399648" y="5779008"/>
            <a:ext cx="328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الخطة ليوم العرض: 70%</a:t>
            </a:r>
            <a:endParaRPr lang="ar-SA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932688" y="6236208"/>
            <a:ext cx="8223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950" dirty="0">
                <a:solidFill>
                  <a:srgbClr val="314160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النموذج الأولي يعمل من واجهة المستخدم — والمرحلة القادمة ربط البيانات الحية وتفعيل الأدوات المالية المتقدمة</a:t>
            </a:r>
            <a:endParaRPr lang="ar-SA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اللقطات والفيديوهات والمحاكاة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969264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350" dirty="0">
                <a:solidFill>
                  <a:srgbClr val="05664D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</a:rPr>
              <a:t>النموذج الأولي يعمل عبر واجهة المستخدم — لقطة حية من المنصة</a:t>
            </a:r>
            <a:endParaRPr lang="ar-SA" sz="1350" dirty="0"/>
          </a:p>
        </p:txBody>
      </p:sp>
      <p:sp>
        <p:nvSpPr>
          <p:cNvPr id="4" name="Shape 2"/>
          <p:cNvSpPr/>
          <p:nvPr/>
        </p:nvSpPr>
        <p:spPr>
          <a:xfrm>
            <a:off x="612648" y="1554480"/>
            <a:ext cx="72237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554480"/>
            <a:ext cx="7223760" cy="384048"/>
          </a:xfrm>
          <a:prstGeom prst="roundRect">
            <a:avLst>
              <a:gd name="adj" fmla="val 21429"/>
            </a:avLst>
          </a:prstGeom>
          <a:solidFill>
            <a:srgbClr val="F4F7FC"/>
          </a:solidFill>
          <a:ln w="9525">
            <a:solidFill>
              <a:srgbClr val="E3E9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682496"/>
            <a:ext cx="128016" cy="12801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6824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682496"/>
            <a:ext cx="128016" cy="128016"/>
          </a:xfrm>
          <a:prstGeom prst="ellipse">
            <a:avLst/>
          </a:prstGeom>
          <a:solidFill>
            <a:srgbClr val="07966F"/>
          </a:solidFill>
          <a:ln/>
        </p:spPr>
      </p:sp>
      <p:pic>
        <p:nvPicPr>
          <p:cNvPr id="9" name="Image 0" descr="assets/app-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" y="1975104"/>
            <a:ext cx="7114032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02168" y="1554480"/>
            <a:ext cx="337687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24848" y="1737360"/>
            <a:ext cx="731520" cy="731520"/>
          </a:xfrm>
          <a:prstGeom prst="ellipse">
            <a:avLst/>
          </a:prstGeom>
          <a:solidFill>
            <a:srgbClr val="E6F7F1"/>
          </a:solidFill>
          <a:ln/>
        </p:spPr>
      </p:sp>
      <p:pic>
        <p:nvPicPr>
          <p:cNvPr id="12" name="Image 1" descr="assets/ic-play-circle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412" y="19129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85048" y="2606040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3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فيديو مبدئي للنظام</a:t>
            </a:r>
            <a:endParaRPr lang="ar-SA" sz="1350" dirty="0"/>
          </a:p>
        </p:txBody>
      </p:sp>
      <p:sp>
        <p:nvSpPr>
          <p:cNvPr id="14" name="Text 10">
            <a:hlinkClick r:id="rId3" tooltip=""/>
          </p:cNvPr>
          <p:cNvSpPr txBox="1"/>
          <p:nvPr/>
        </p:nvSpPr>
        <p:spPr>
          <a:xfrm>
            <a:off x="8385048" y="3017520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u="sng" dirty="0">
                <a:solidFill>
                  <a:srgbClr val="07966F"/>
                </a:solidFill>
                <a:latin typeface="IBM Plex Sans Arabic SemiBold" pitchFamily="34" charset="0"/>
                <a:ea typeface="IBM Plex Sans Arabic SemiBold" pitchFamily="34" charset="-122"/>
                <a:cs typeface="IBM Plex Sans Arabic Semi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اضغط لمشاهدة العرض</a:t>
            </a:r>
            <a:endParaRPr lang="ar-SA" sz="1200" dirty="0"/>
          </a:p>
        </p:txBody>
      </p:sp>
      <p:sp>
        <p:nvSpPr>
          <p:cNvPr id="15" name="Shape 11"/>
          <p:cNvSpPr/>
          <p:nvPr/>
        </p:nvSpPr>
        <p:spPr>
          <a:xfrm>
            <a:off x="8202168" y="3703320"/>
            <a:ext cx="3376879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430768" y="3913632"/>
            <a:ext cx="2919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ستشاهده في العرض</a:t>
            </a:r>
            <a:endParaRPr lang="ar-SA" sz="1250" dirty="0"/>
          </a:p>
        </p:txBody>
      </p:sp>
      <p:sp>
        <p:nvSpPr>
          <p:cNvPr id="17" name="Shape 13"/>
          <p:cNvSpPr/>
          <p:nvPr/>
        </p:nvSpPr>
        <p:spPr>
          <a:xfrm>
            <a:off x="11194999" y="4462272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430768" y="4370832"/>
            <a:ext cx="2599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واجهة عربية كاملة (RTL) بهوية فهيم</a:t>
            </a:r>
            <a:endParaRPr lang="ar-SA" sz="1050" dirty="0"/>
          </a:p>
        </p:txBody>
      </p:sp>
      <p:sp>
        <p:nvSpPr>
          <p:cNvPr id="19" name="Shape 15"/>
          <p:cNvSpPr/>
          <p:nvPr/>
        </p:nvSpPr>
        <p:spPr>
          <a:xfrm>
            <a:off x="11194999" y="5029200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430768" y="4937760"/>
            <a:ext cx="2599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محادثة موثقة بالمصادر مع لوحة المخرجات</a:t>
            </a:r>
            <a:endParaRPr lang="ar-SA" sz="1050" dirty="0"/>
          </a:p>
        </p:txBody>
      </p:sp>
      <p:sp>
        <p:nvSpPr>
          <p:cNvPr id="21" name="Shape 17"/>
          <p:cNvSpPr/>
          <p:nvPr/>
        </p:nvSpPr>
        <p:spPr>
          <a:xfrm>
            <a:off x="11194999" y="5596128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430768" y="5504688"/>
            <a:ext cx="2599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مذكرات ونماذج جاهزة للتنزيل</a:t>
            </a:r>
            <a:endParaRPr lang="ar-SA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84048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260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التحديات والخطط المستقبلية</a:t>
            </a:r>
            <a:endParaRPr lang="ar-SA" sz="2600" dirty="0"/>
          </a:p>
        </p:txBody>
      </p:sp>
      <p:sp>
        <p:nvSpPr>
          <p:cNvPr id="3" name="Shape 1"/>
          <p:cNvSpPr/>
          <p:nvPr/>
        </p:nvSpPr>
        <p:spPr>
          <a:xfrm>
            <a:off x="8049463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23783" y="1874520"/>
            <a:ext cx="2980944" cy="512064"/>
          </a:xfrm>
          <a:prstGeom prst="roundRect">
            <a:avLst>
              <a:gd name="adj" fmla="val 16071"/>
            </a:avLst>
          </a:prstGeom>
          <a:solidFill>
            <a:srgbClr val="FEF3E2"/>
          </a:solidFill>
          <a:ln/>
        </p:spPr>
      </p:sp>
      <p:pic>
        <p:nvPicPr>
          <p:cNvPr id="5" name="Image 0" descr="assets/ic-triangle-alert-b453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20025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5223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50" b="1" dirty="0">
                <a:solidFill>
                  <a:srgbClr val="B4530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التحديات</a:t>
            </a:r>
            <a:endParaRPr lang="ar-SA" sz="1250" dirty="0"/>
          </a:p>
        </p:txBody>
      </p:sp>
      <p:sp>
        <p:nvSpPr>
          <p:cNvPr id="7" name="Shape 4"/>
          <p:cNvSpPr/>
          <p:nvPr/>
        </p:nvSpPr>
        <p:spPr>
          <a:xfrm>
            <a:off x="11158423" y="2715768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3783" y="262432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اعتمادات بعض الواجهات (API) تستغرق وقتًا طويلًا</a:t>
            </a:r>
            <a:endParaRPr lang="ar-SA" sz="1050" dirty="0"/>
          </a:p>
        </p:txBody>
      </p:sp>
      <p:sp>
        <p:nvSpPr>
          <p:cNvPr id="9" name="Shape 6"/>
          <p:cNvSpPr/>
          <p:nvPr/>
        </p:nvSpPr>
        <p:spPr>
          <a:xfrm>
            <a:off x="11158423" y="3703320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3783" y="361188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حدود الاستدعاءات في الباقات المجانية لبيانات السوق اللحظية</a:t>
            </a:r>
            <a:endParaRPr lang="ar-SA" sz="1050" dirty="0"/>
          </a:p>
        </p:txBody>
      </p:sp>
      <p:sp>
        <p:nvSpPr>
          <p:cNvPr id="11" name="Shape 8"/>
          <p:cNvSpPr/>
          <p:nvPr/>
        </p:nvSpPr>
        <p:spPr>
          <a:xfrm>
            <a:off x="11158423" y="4690872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3783" y="4599432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عدم توفر مصادر API مجانية أو سهلة الوصول لخدمات التحليل المالي</a:t>
            </a:r>
            <a:endParaRPr lang="ar-SA" sz="1050" dirty="0"/>
          </a:p>
        </p:txBody>
      </p:sp>
      <p:sp>
        <p:nvSpPr>
          <p:cNvPr id="13" name="Shape 10"/>
          <p:cNvSpPr/>
          <p:nvPr/>
        </p:nvSpPr>
        <p:spPr>
          <a:xfrm>
            <a:off x="4327855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2175" y="1874520"/>
            <a:ext cx="2980944" cy="512064"/>
          </a:xfrm>
          <a:prstGeom prst="roundRect">
            <a:avLst>
              <a:gd name="adj" fmla="val 16071"/>
            </a:avLst>
          </a:prstGeom>
          <a:solidFill>
            <a:srgbClr val="E6F7F1"/>
          </a:solidFill>
          <a:ln/>
        </p:spPr>
      </p:sp>
      <p:pic>
        <p:nvPicPr>
          <p:cNvPr id="15" name="Image 1" descr="assets/ic-handshake-0796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639" y="20025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93615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50" b="1" dirty="0">
                <a:solidFill>
                  <a:srgbClr val="0566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نحتاج المساعدة فيه</a:t>
            </a:r>
            <a:endParaRPr lang="ar-SA" sz="1250" dirty="0"/>
          </a:p>
        </p:txBody>
      </p:sp>
      <p:sp>
        <p:nvSpPr>
          <p:cNvPr id="17" name="Shape 13"/>
          <p:cNvSpPr/>
          <p:nvPr/>
        </p:nvSpPr>
        <p:spPr>
          <a:xfrm>
            <a:off x="7436815" y="2715768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02175" y="262432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تسريع اعتماد مفاتيح الواجهات خلال فترة البرنامج، ومفاتيح لواجهات متعاونة مع طويق أو بنك الإنماء</a:t>
            </a:r>
            <a:endParaRPr lang="ar-SA" sz="1050" dirty="0"/>
          </a:p>
        </p:txBody>
      </p:sp>
      <p:sp>
        <p:nvSpPr>
          <p:cNvPr id="19" name="Shape 15"/>
          <p:cNvSpPr/>
          <p:nvPr/>
        </p:nvSpPr>
        <p:spPr>
          <a:xfrm>
            <a:off x="7436815" y="3703320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602175" y="361188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جلسات إرشاد مع خبراء الائتمان والتمويل والاستثمار والمصرفية المفتوحة</a:t>
            </a:r>
            <a:endParaRPr lang="ar-SA" sz="1050" dirty="0"/>
          </a:p>
        </p:txBody>
      </p:sp>
      <p:sp>
        <p:nvSpPr>
          <p:cNvPr id="21" name="Shape 17"/>
          <p:cNvSpPr/>
          <p:nvPr/>
        </p:nvSpPr>
        <p:spPr>
          <a:xfrm>
            <a:off x="7436815" y="4690872"/>
            <a:ext cx="109728" cy="109728"/>
          </a:xfrm>
          <a:prstGeom prst="ellipse">
            <a:avLst/>
          </a:prstGeom>
          <a:solidFill>
            <a:srgbClr val="07966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602175" y="4599432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الوصول إلى بيئة اختبار المصرفية المفتوحة لتجربة المشروع مع عملاء حقيقيين</a:t>
            </a:r>
            <a:endParaRPr lang="ar-SA" sz="1050" dirty="0"/>
          </a:p>
        </p:txBody>
      </p:sp>
      <p:sp>
        <p:nvSpPr>
          <p:cNvPr id="23" name="Shape 19"/>
          <p:cNvSpPr/>
          <p:nvPr/>
        </p:nvSpPr>
        <p:spPr>
          <a:xfrm>
            <a:off x="606247" y="1600200"/>
            <a:ext cx="3529584" cy="44348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9525">
            <a:solidFill>
              <a:srgbClr val="E3E9F1"/>
            </a:solidFill>
            <a:prstDash val="solid"/>
          </a:ln>
          <a:effectLst>
            <a:outerShdw sx="100000" sy="100000" kx="0" ky="0" algn="bl" rotWithShape="0" blurRad="139700" dist="25400" dir="5400000">
              <a:srgbClr val="082152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80567" y="1874520"/>
            <a:ext cx="2980944" cy="512064"/>
          </a:xfrm>
          <a:prstGeom prst="roundRect">
            <a:avLst>
              <a:gd name="adj" fmla="val 16071"/>
            </a:avLst>
          </a:prstGeom>
          <a:solidFill>
            <a:srgbClr val="E8EEF8"/>
          </a:solidFill>
          <a:ln/>
        </p:spPr>
      </p:sp>
      <p:pic>
        <p:nvPicPr>
          <p:cNvPr id="25" name="Image 2" descr="assets/ic-route-061f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031" y="2002536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72007" y="1874520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ar-SA" altLang="en-US" sz="1250" b="1" dirty="0">
                <a:solidFill>
                  <a:srgbClr val="061F5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</a:t>
            </a:r>
            <a:endParaRPr lang="ar-SA" sz="1250" dirty="0"/>
          </a:p>
        </p:txBody>
      </p:sp>
      <p:sp>
        <p:nvSpPr>
          <p:cNvPr id="27" name="Shape 22"/>
          <p:cNvSpPr/>
          <p:nvPr/>
        </p:nvSpPr>
        <p:spPr>
          <a:xfrm>
            <a:off x="3715207" y="2715768"/>
            <a:ext cx="109728" cy="109728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80567" y="262432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الأسبوعان القادمان (70%): ربط البيانات الحية، خط توليد المذكرات، وواجهة المحادثة</a:t>
            </a:r>
            <a:endParaRPr lang="ar-SA" sz="1050" dirty="0"/>
          </a:p>
        </p:txBody>
      </p:sp>
      <p:sp>
        <p:nvSpPr>
          <p:cNvPr id="29" name="Shape 24"/>
          <p:cNvSpPr/>
          <p:nvPr/>
        </p:nvSpPr>
        <p:spPr>
          <a:xfrm>
            <a:off x="3715207" y="3703320"/>
            <a:ext cx="109728" cy="109728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80567" y="3611880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يوم العرض: عرض حي متكامل يُظهر قوة وذكاء فهيم وكيف يخدم المصرفي والمستثمر السعودي</a:t>
            </a:r>
            <a:endParaRPr lang="ar-SA" sz="1050" dirty="0"/>
          </a:p>
        </p:txBody>
      </p:sp>
      <p:sp>
        <p:nvSpPr>
          <p:cNvPr id="31" name="Shape 26"/>
          <p:cNvSpPr/>
          <p:nvPr/>
        </p:nvSpPr>
        <p:spPr>
          <a:xfrm>
            <a:off x="3715207" y="4690872"/>
            <a:ext cx="109728" cy="109728"/>
          </a:xfrm>
          <a:prstGeom prst="ellipse">
            <a:avLst/>
          </a:prstGeom>
          <a:solidFill>
            <a:srgbClr val="061F5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80567" y="4599432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ar-SA" altLang="en-US" sz="1050" dirty="0">
                <a:solidFill>
                  <a:srgbClr val="3141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بعد الهاكاثون: موصلات مصرفية مفتوحة مرخصة، شراكات بنكية واستثمارية، وبيئة اختبار حقيقية</a:t>
            </a:r>
            <a:endParaRPr lang="ar-SA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5603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590C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80000">
            <a:off x="-2926080" y="-2377440"/>
            <a:ext cx="10515600" cy="5669280"/>
          </a:xfrm>
          <a:prstGeom prst="rect">
            <a:avLst/>
          </a:prstGeom>
          <a:solidFill>
            <a:srgbClr val="12285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0880000">
            <a:off x="5120640" y="3108960"/>
            <a:ext cx="11430000" cy="6583680"/>
          </a:xfrm>
          <a:prstGeom prst="rect">
            <a:avLst/>
          </a:prstGeom>
          <a:solidFill>
            <a:srgbClr val="041437">
              <a:alpha val="58000"/>
            </a:srgbClr>
          </a:solidFill>
          <a:ln/>
        </p:spPr>
      </p:sp>
      <p:pic>
        <p:nvPicPr>
          <p:cNvPr id="4" name="Image 0" descr="assets/amad-hacka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685800"/>
            <a:ext cx="1554480" cy="9508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" y="2377440"/>
            <a:ext cx="109663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7600" b="1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شكرًا</a:t>
            </a:r>
            <a:endParaRPr lang="ar-SA" sz="7600" dirty="0"/>
          </a:p>
        </p:txBody>
      </p:sp>
      <p:pic>
        <p:nvPicPr>
          <p:cNvPr id="6" name="Image 1" descr="assets/faheem-glyph-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723" y="4160520"/>
            <a:ext cx="46257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87088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2000"/>
              </a:lnSpc>
              <a:buNone/>
            </a:pPr>
            <a:r>
              <a:rPr lang="ar-SA" altLang="en-US" sz="1600" dirty="0">
                <a:solidFill>
                  <a:srgbClr val="5CC9A8"/>
                </a:solidFill>
                <a:latin typeface="IBM Plex Sans Arabic Medium" pitchFamily="34" charset="0"/>
                <a:ea typeface="IBM Plex Sans Arabic Medium" pitchFamily="34" charset="-122"/>
                <a:cs typeface="IBM Plex Sans Arabic Medium" pitchFamily="34" charset="-120"/>
              </a:rPr>
              <a:t>فريق لونار — منصة فهيم</a:t>
            </a:r>
            <a:endParaRPr lang="ar-SA" sz="1600" dirty="0"/>
          </a:p>
        </p:txBody>
      </p:sp>
      <p:pic>
        <p:nvPicPr>
          <p:cNvPr id="8" name="Image 2" descr="assets/sponsor-w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567" y="6035040"/>
            <a:ext cx="1463040" cy="286464"/>
          </a:xfrm>
          <a:prstGeom prst="rect">
            <a:avLst/>
          </a:prstGeom>
        </p:spPr>
      </p:pic>
      <p:pic>
        <p:nvPicPr>
          <p:cNvPr id="9" name="Image 3" descr="assets/sponsor-t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989320"/>
            <a:ext cx="960120" cy="364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فهيم — الذكاء التوكيلي للمستثمر السعودي</dc:title>
  <dc:subject>PptxGenJS Presentation</dc:subject>
  <dc:creator>فريق لونار</dc:creator>
  <cp:lastModifiedBy>فريق لونار</cp:lastModifiedBy>
  <cp:revision>1</cp:revision>
  <dcterms:created xsi:type="dcterms:W3CDTF">2026-07-12T22:03:21Z</dcterms:created>
  <dcterms:modified xsi:type="dcterms:W3CDTF">2026-07-12T22:03:21Z</dcterms:modified>
</cp:coreProperties>
</file>